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478" r:id="rId2"/>
    <p:sldId id="267" r:id="rId3"/>
    <p:sldId id="472" r:id="rId4"/>
    <p:sldId id="479" r:id="rId5"/>
    <p:sldId id="491" r:id="rId6"/>
    <p:sldId id="481" r:id="rId7"/>
    <p:sldId id="492" r:id="rId8"/>
    <p:sldId id="487" r:id="rId9"/>
    <p:sldId id="495" r:id="rId10"/>
    <p:sldId id="494" r:id="rId11"/>
    <p:sldId id="488" r:id="rId12"/>
    <p:sldId id="475" r:id="rId13"/>
    <p:sldId id="485" r:id="rId14"/>
    <p:sldId id="489" r:id="rId15"/>
    <p:sldId id="474" r:id="rId16"/>
    <p:sldId id="477" r:id="rId17"/>
    <p:sldId id="496" r:id="rId18"/>
    <p:sldId id="497" r:id="rId19"/>
    <p:sldId id="49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2E916-1053-40D0-88B3-92E6C3FD712E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60EF5-BE31-4458-AA3D-5E6C2FB160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82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FAA1-E13F-1678-BADA-9D6907DA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2C92E808-CC9D-3EAC-A93B-5C013A1C3657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8BABDCEA-E05E-48C8-0D93-64BCC112207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6741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86899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D48F4-AC1F-F4D6-184E-AD223C42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005EA1F0-5839-A008-8A18-560BA9DC288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D6B04DF3-DAC8-2234-2DA0-A8AFE31165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6923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AD9B-B85A-EA46-AA9B-97A482033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837F5568-3081-8A0A-17BB-2F2C81FC4EF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5F1FBFA1-7F3B-AE7F-B479-9FB493C660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3301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D39B8-B541-6472-F9E6-ECDB0DE91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A674B4DC-BBE0-2A09-34B8-8DB6F5EA0E5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08619BA1-1CA8-E1AE-C128-8D630E293D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61782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72B87-5EE7-B2AB-BFD3-9FF5FF5F4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D1F9BC57-0299-458D-DB70-CBE593DB7FEF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2A404CC7-35F3-740F-0229-D0302105635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5680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CC98-080E-4D67-41A9-B40930297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AF6AE85C-B158-C53D-441D-36E9113B522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B1F55FCD-BE7A-75FD-A6A5-AA54FFF35F9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3780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EB014-E1E0-8B3C-AC06-EFB5C1A0E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13B6732B-65B7-1FA6-9BA7-4DEF7076D21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BE40BA6D-9D20-9D3A-B07D-587264CEBE3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91645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D19BB-33DC-5FFE-9969-7366D201A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C4A66DDD-9605-BC22-DE65-6120AD7D2E9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B0116389-793C-16DF-5437-1F52985B12E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750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0DCDA-9D04-EC25-044A-6C8102AB7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F71ED166-CE4C-AFE9-4115-2FED97EE728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C6CAD71B-8894-BA5D-B2D2-9F7F2042B50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5568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24C0A-02A4-D04D-8E06-10D6EB3EE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BC0F315F-2241-D628-9E15-C8124AB3A8A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1486C2CB-0660-0DBD-FAAA-37C181D71AC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2322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D01A8-B807-1844-144E-C422B4777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EC54DA99-2DDE-751A-58C8-4C0F511A1434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9DEB5E80-F2AB-EEB3-7B1C-3337A76DD8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7864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64F69-9B51-0E90-0A0C-CE24295C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2667AD25-DB69-1CFA-59F9-D06CBFF8FA7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53917549-9DAC-9EA6-E87D-E84D8694B9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53942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E7E28-F410-57EB-B287-07D67688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AE40853D-9765-30F7-3D0E-2EFB95BEA0F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3FA8965B-C35E-1167-0153-19615E48E71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48142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0035-6C30-FCD9-16E5-16292CD6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9CB775DF-7ABC-EEA9-DA15-5C1E5F51D60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C9DCAE65-1407-257A-8F40-6CAAD2AF657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30748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6676D-59CE-DD2F-246C-44A372B35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9975B664-ABF3-6ADB-5113-20ACADAAFE6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4B1C9A05-BF11-B7E6-7125-E6E81053B94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9846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F9FB9-F404-2AE8-B19B-978739F9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94AB2D62-CB40-523C-4E7E-AD1FAE46A46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F9A40C4D-142F-FBBE-18C3-9C7211547DF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75405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A41B2-25CD-5319-1515-83BEB92A7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87ACF981-3526-1CF2-4A02-853DD8186A4B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D8591E99-8CD9-CC10-16DA-A95D9AD99E4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7644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DF65-1448-737B-2F72-99D9709C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B1286BB4-0E92-03FD-BFD3-85599FE9015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文本占位符 2">
            <a:extLst>
              <a:ext uri="{FF2B5EF4-FFF2-40B4-BE49-F238E27FC236}">
                <a16:creationId xmlns:a16="http://schemas.microsoft.com/office/drawing/2014/main" id="{6C4867D8-6A0B-D2C8-AB03-FD4016067CF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1464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74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81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920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379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543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11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90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37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14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063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5361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59B16-E278-4406-8B12-91F12542BF03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C662B-E92D-404C-A787-89D278AB4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6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DAA4E-D273-53B6-767D-71C31A7DC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4283323A-01EB-4E8A-83AA-38D215675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0774" y="2170635"/>
            <a:ext cx="3274026" cy="91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改变世界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--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硅基人的世界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D5FD6BA0-E69B-F40B-302A-7B5C94E21520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</a:t>
            </a:fld>
            <a:endParaRPr kumimoji="1" lang="zh-CN" altLang="en-US" sz="2400" dirty="0"/>
          </a:p>
        </p:txBody>
      </p:sp>
      <p:sp>
        <p:nvSpPr>
          <p:cNvPr id="2" name="TextBox 35">
            <a:extLst>
              <a:ext uri="{FF2B5EF4-FFF2-40B4-BE49-F238E27FC236}">
                <a16:creationId xmlns:a16="http://schemas.microsoft.com/office/drawing/2014/main" id="{579CC5E3-295A-C9DB-71E4-F4F3B89B8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8999" y="5183265"/>
            <a:ext cx="4261451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微信号：</a:t>
            </a:r>
            <a:r>
              <a:rPr lang="en-US" altLang="zh-CN" sz="2667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qq75260062</a:t>
            </a:r>
          </a:p>
        </p:txBody>
      </p:sp>
    </p:spTree>
    <p:extLst>
      <p:ext uri="{BB962C8B-B14F-4D97-AF65-F5344CB8AC3E}">
        <p14:creationId xmlns:p14="http://schemas.microsoft.com/office/powerpoint/2010/main" val="3788527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/>
          <p:cNvSpPr txBox="1">
            <a:spLocks noChangeArrowheads="1"/>
          </p:cNvSpPr>
          <p:nvPr/>
        </p:nvSpPr>
        <p:spPr bwMode="auto">
          <a:xfrm>
            <a:off x="2644474" y="2028311"/>
            <a:ext cx="6903052" cy="173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硅基人定位：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r>
              <a:rPr lang="zh-CN" altLang="en-US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一款专为处理</a:t>
            </a:r>
            <a:r>
              <a:rPr lang="en-US" altLang="zh-CN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</a:t>
            </a:r>
            <a:r>
              <a:rPr lang="zh-CN" altLang="en-US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个以上</a:t>
            </a:r>
            <a:r>
              <a:rPr lang="en-US" altLang="zh-CN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类的中大型工程而设计的</a:t>
            </a:r>
            <a:r>
              <a:rPr lang="en-US" altLang="zh-CN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6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编码助手。</a:t>
            </a:r>
            <a:endParaRPr lang="en-US" altLang="zh-CN" sz="2667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DB832A07-2067-4484-ABC2-44E3E2AE4620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2</a:t>
            </a:fld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961123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32C3-C9DC-C9CC-DAB7-CD032AE8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01EF6BBB-3F8C-B2A7-AAE1-14B21C24B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0183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硅基人的技术定位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E9CD917A-D2A3-4D26-0355-4BEDC8A69226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 smtClean="0"/>
              <a:pPr/>
              <a:t>3</a:t>
            </a:fld>
            <a:endParaRPr kumimoji="1" lang="zh-CN" altLang="en-US" sz="2400" dirty="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51347441-C6D5-E905-504A-07FAD27345A4}"/>
              </a:ext>
            </a:extLst>
          </p:cNvPr>
          <p:cNvSpPr/>
          <p:nvPr/>
        </p:nvSpPr>
        <p:spPr>
          <a:xfrm>
            <a:off x="633406" y="1036453"/>
            <a:ext cx="1037749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Coding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领域的路线之争在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Coding Agent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领域，存在以下三种技术路线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第一组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完全抛弃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的实时搜索派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Cline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Claude Code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相似点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都完全放弃了传统的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RAG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方法，采用实时动态搜索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第二组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基于图结构的智能索引派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Aider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AST+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图结构，将代码文件作为节点，依赖关系作为边，通过自定义排名算法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不是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PageRank)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优化代码映射</a:t>
            </a:r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第三组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混合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RAG+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高级技术派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Cursor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Windsurf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相似点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都使用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embeddings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向量化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+RAG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，但加入了很多高级技术区别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DC8C31-A4C2-7FA9-6C35-9F3199196FC6}"/>
              </a:ext>
            </a:extLst>
          </p:cNvPr>
          <p:cNvSpPr/>
          <p:nvPr/>
        </p:nvSpPr>
        <p:spPr>
          <a:xfrm>
            <a:off x="1106481" y="5106717"/>
            <a:ext cx="9739319" cy="9234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硅基人的核心定位是：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融合多种技术能力，专注于解决大规模代码中的定位问题，出现多方案的时候通过引入人的决策判断，快速确定业务需求的具体实现路径。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750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E0DC7-1810-13F3-0F60-E926E8EF3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CA0DE902-FE19-A74A-E8EA-E590BBB3D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0183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硅基人的思路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4C4E1E51-E257-AA0F-DACB-6FDE9DC2EDF4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4</a:t>
            </a:fld>
            <a:endParaRPr kumimoji="1" lang="zh-CN" altLang="en-US" sz="2400" dirty="0"/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D1FA4AD1-AF4E-8BF5-7701-24969E4CBFBA}"/>
              </a:ext>
            </a:extLst>
          </p:cNvPr>
          <p:cNvCxnSpPr>
            <a:stCxn id="56" idx="3"/>
            <a:endCxn id="21" idx="1"/>
          </p:cNvCxnSpPr>
          <p:nvPr/>
        </p:nvCxnSpPr>
        <p:spPr>
          <a:xfrm flipV="1">
            <a:off x="2926161" y="1205140"/>
            <a:ext cx="1142753" cy="9312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5F76D3DC-3105-D7B2-60BE-99B07362718C}"/>
              </a:ext>
            </a:extLst>
          </p:cNvPr>
          <p:cNvSpPr/>
          <p:nvPr/>
        </p:nvSpPr>
        <p:spPr>
          <a:xfrm>
            <a:off x="4068914" y="181421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5C83079-913C-C8BB-AB56-584F792F3B49}"/>
              </a:ext>
            </a:extLst>
          </p:cNvPr>
          <p:cNvSpPr/>
          <p:nvPr/>
        </p:nvSpPr>
        <p:spPr>
          <a:xfrm>
            <a:off x="4068914" y="890188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065B3A-9AD8-782C-4994-B2065F344663}"/>
              </a:ext>
            </a:extLst>
          </p:cNvPr>
          <p:cNvSpPr/>
          <p:nvPr/>
        </p:nvSpPr>
        <p:spPr>
          <a:xfrm>
            <a:off x="4068914" y="2738233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监管报送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A85CEE89-8EE8-809A-3F7F-3DBADF5A290D}"/>
              </a:ext>
            </a:extLst>
          </p:cNvPr>
          <p:cNvCxnSpPr>
            <a:stCxn id="56" idx="3"/>
            <a:endCxn id="33" idx="1"/>
          </p:cNvCxnSpPr>
          <p:nvPr/>
        </p:nvCxnSpPr>
        <p:spPr>
          <a:xfrm>
            <a:off x="2926161" y="2136362"/>
            <a:ext cx="1142753" cy="9168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矩形 120">
            <a:extLst>
              <a:ext uri="{FF2B5EF4-FFF2-40B4-BE49-F238E27FC236}">
                <a16:creationId xmlns:a16="http://schemas.microsoft.com/office/drawing/2014/main" id="{B8C076B3-1E95-0F1C-1836-E6F1C9D5EF33}"/>
              </a:ext>
            </a:extLst>
          </p:cNvPr>
          <p:cNvSpPr/>
          <p:nvPr/>
        </p:nvSpPr>
        <p:spPr>
          <a:xfrm>
            <a:off x="2464201" y="4718268"/>
            <a:ext cx="149819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自动化大模型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A568330-591C-6C79-1678-B2A956A153A3}"/>
              </a:ext>
            </a:extLst>
          </p:cNvPr>
          <p:cNvSpPr/>
          <p:nvPr/>
        </p:nvSpPr>
        <p:spPr>
          <a:xfrm>
            <a:off x="1414872" y="5265581"/>
            <a:ext cx="1002622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刷一遍注释，统一代码可读性</a:t>
            </a: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由于部分中国开发者习惯使用中文拼音缩写命名，建议借助自动化工具（如 </a:t>
            </a:r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sman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 为每个类批量添加清晰注释，确保代码易于理解和维护。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二、提供备选方案，平衡 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与人工决策</a:t>
            </a:r>
          </a:p>
          <a:p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推荐的最优方案未必符合开发人员的实际需求。在提供 第一方案 的同时，主动给出 第二方案 供选择，目前可覆盖 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 的场景，有效提升决策灵活性。</a:t>
            </a:r>
          </a:p>
          <a:p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三、支持局部微调，应对剩余复杂情况</a:t>
            </a:r>
          </a:p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对于剩余 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的特殊情况，保留人工调整空间。开发人员可针对方案的 具体环节 进行微调，确保最终实现更贴合业务与技术需求。</a:t>
            </a:r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E7FDA53-C579-2578-9138-658B05CB9C69}"/>
              </a:ext>
            </a:extLst>
          </p:cNvPr>
          <p:cNvCxnSpPr>
            <a:stCxn id="56" idx="3"/>
            <a:endCxn id="20" idx="1"/>
          </p:cNvCxnSpPr>
          <p:nvPr/>
        </p:nvCxnSpPr>
        <p:spPr>
          <a:xfrm flipV="1">
            <a:off x="2926161" y="2129162"/>
            <a:ext cx="1142753" cy="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B29639C6-B297-4DA6-5569-ACCA1C15229E}"/>
              </a:ext>
            </a:extLst>
          </p:cNvPr>
          <p:cNvSpPr/>
          <p:nvPr/>
        </p:nvSpPr>
        <p:spPr>
          <a:xfrm>
            <a:off x="1758142" y="182141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业务需求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CC06236-571F-3636-14DD-D537AD79DD8C}"/>
              </a:ext>
            </a:extLst>
          </p:cNvPr>
          <p:cNvSpPr/>
          <p:nvPr/>
        </p:nvSpPr>
        <p:spPr>
          <a:xfrm>
            <a:off x="6023304" y="181421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联机</a:t>
            </a:r>
            <a:b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FDB60C5-1C1B-2F2F-136B-D24E84E5D92D}"/>
              </a:ext>
            </a:extLst>
          </p:cNvPr>
          <p:cNvSpPr/>
          <p:nvPr/>
        </p:nvSpPr>
        <p:spPr>
          <a:xfrm>
            <a:off x="6023304" y="890188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管理台</a:t>
            </a:r>
            <a:b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</a:t>
            </a:r>
            <a:endParaRPr lang="en-US" altLang="zh-CN" sz="1467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0AECEB44-E338-FBF4-66BC-55470B2B50FF}"/>
              </a:ext>
            </a:extLst>
          </p:cNvPr>
          <p:cNvCxnSpPr>
            <a:stCxn id="68" idx="3"/>
            <a:endCxn id="76" idx="1"/>
          </p:cNvCxnSpPr>
          <p:nvPr/>
        </p:nvCxnSpPr>
        <p:spPr>
          <a:xfrm flipV="1">
            <a:off x="7191323" y="890188"/>
            <a:ext cx="1142753" cy="12389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1F40C985-FC29-1D37-5765-CC1944169B7A}"/>
              </a:ext>
            </a:extLst>
          </p:cNvPr>
          <p:cNvCxnSpPr>
            <a:stCxn id="21" idx="3"/>
            <a:endCxn id="69" idx="1"/>
          </p:cNvCxnSpPr>
          <p:nvPr/>
        </p:nvCxnSpPr>
        <p:spPr>
          <a:xfrm>
            <a:off x="5236933" y="1205140"/>
            <a:ext cx="78637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BBEA9E1E-FE14-134F-82D0-070576BEB49E}"/>
              </a:ext>
            </a:extLst>
          </p:cNvPr>
          <p:cNvSpPr/>
          <p:nvPr/>
        </p:nvSpPr>
        <p:spPr>
          <a:xfrm>
            <a:off x="8334076" y="710837"/>
            <a:ext cx="1138571" cy="358701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A50C6BC9-6447-F7F9-2226-C4E6D987F761}"/>
              </a:ext>
            </a:extLst>
          </p:cNvPr>
          <p:cNvSpPr/>
          <p:nvPr/>
        </p:nvSpPr>
        <p:spPr>
          <a:xfrm>
            <a:off x="8334076" y="1250088"/>
            <a:ext cx="1138571" cy="358701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FCD9B403-EC31-AA72-D099-5A4348B8EC2D}"/>
              </a:ext>
            </a:extLst>
          </p:cNvPr>
          <p:cNvSpPr/>
          <p:nvPr/>
        </p:nvSpPr>
        <p:spPr>
          <a:xfrm>
            <a:off x="8334076" y="1789340"/>
            <a:ext cx="1138571" cy="358701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8098E23-E383-1154-79AE-262471360133}"/>
              </a:ext>
            </a:extLst>
          </p:cNvPr>
          <p:cNvSpPr/>
          <p:nvPr/>
        </p:nvSpPr>
        <p:spPr>
          <a:xfrm>
            <a:off x="8334076" y="2285281"/>
            <a:ext cx="1138571" cy="358701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DAD4D439-833B-4EAA-9A9E-D21F412AF69B}"/>
              </a:ext>
            </a:extLst>
          </p:cNvPr>
          <p:cNvSpPr/>
          <p:nvPr/>
        </p:nvSpPr>
        <p:spPr>
          <a:xfrm>
            <a:off x="8334076" y="2824532"/>
            <a:ext cx="1138571" cy="358701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</a:t>
            </a:r>
            <a:r>
              <a:rPr lang="en-US" altLang="zh-CN" sz="1467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47872A26-2903-DE0A-CB17-D234346685FC}"/>
              </a:ext>
            </a:extLst>
          </p:cNvPr>
          <p:cNvCxnSpPr>
            <a:stCxn id="21" idx="3"/>
            <a:endCxn id="68" idx="1"/>
          </p:cNvCxnSpPr>
          <p:nvPr/>
        </p:nvCxnSpPr>
        <p:spPr>
          <a:xfrm>
            <a:off x="5236933" y="1205140"/>
            <a:ext cx="786371" cy="9240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4C51B574-792B-0A0F-90A2-501001A8E649}"/>
              </a:ext>
            </a:extLst>
          </p:cNvPr>
          <p:cNvCxnSpPr>
            <a:stCxn id="68" idx="3"/>
            <a:endCxn id="80" idx="1"/>
          </p:cNvCxnSpPr>
          <p:nvPr/>
        </p:nvCxnSpPr>
        <p:spPr>
          <a:xfrm>
            <a:off x="7191323" y="2129162"/>
            <a:ext cx="1142753" cy="335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43B2FCE3-2536-4F63-7A8F-B81DB93ED060}"/>
              </a:ext>
            </a:extLst>
          </p:cNvPr>
          <p:cNvCxnSpPr>
            <a:stCxn id="68" idx="3"/>
            <a:endCxn id="78" idx="1"/>
          </p:cNvCxnSpPr>
          <p:nvPr/>
        </p:nvCxnSpPr>
        <p:spPr>
          <a:xfrm flipV="1">
            <a:off x="7191323" y="1968691"/>
            <a:ext cx="1142753" cy="160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C65AF4E3-4F3D-FD18-E3B4-D59D02DC41E4}"/>
              </a:ext>
            </a:extLst>
          </p:cNvPr>
          <p:cNvCxnSpPr>
            <a:stCxn id="68" idx="3"/>
            <a:endCxn id="77" idx="1"/>
          </p:cNvCxnSpPr>
          <p:nvPr/>
        </p:nvCxnSpPr>
        <p:spPr>
          <a:xfrm flipV="1">
            <a:off x="7191323" y="1429439"/>
            <a:ext cx="1142753" cy="699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6C8B4270-8CA4-CBB3-3CCC-A06E650789F9}"/>
              </a:ext>
            </a:extLst>
          </p:cNvPr>
          <p:cNvCxnSpPr>
            <a:stCxn id="68" idx="3"/>
            <a:endCxn id="81" idx="1"/>
          </p:cNvCxnSpPr>
          <p:nvPr/>
        </p:nvCxnSpPr>
        <p:spPr>
          <a:xfrm>
            <a:off x="7191323" y="2129162"/>
            <a:ext cx="1142753" cy="8747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左大括号 89">
            <a:extLst>
              <a:ext uri="{FF2B5EF4-FFF2-40B4-BE49-F238E27FC236}">
                <a16:creationId xmlns:a16="http://schemas.microsoft.com/office/drawing/2014/main" id="{FD08D1D0-B285-E9DA-22F1-7FDD1ECC45F8}"/>
              </a:ext>
            </a:extLst>
          </p:cNvPr>
          <p:cNvSpPr/>
          <p:nvPr/>
        </p:nvSpPr>
        <p:spPr>
          <a:xfrm rot="16200000">
            <a:off x="7726943" y="2588826"/>
            <a:ext cx="357671" cy="25674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左大括号 104">
            <a:extLst>
              <a:ext uri="{FF2B5EF4-FFF2-40B4-BE49-F238E27FC236}">
                <a16:creationId xmlns:a16="http://schemas.microsoft.com/office/drawing/2014/main" id="{5976F2C2-0CD2-E461-A1FB-46EDC209F80D}"/>
              </a:ext>
            </a:extLst>
          </p:cNvPr>
          <p:cNvSpPr/>
          <p:nvPr/>
        </p:nvSpPr>
        <p:spPr>
          <a:xfrm rot="16200000">
            <a:off x="2952193" y="2515267"/>
            <a:ext cx="385639" cy="268658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左大括号 105">
            <a:extLst>
              <a:ext uri="{FF2B5EF4-FFF2-40B4-BE49-F238E27FC236}">
                <a16:creationId xmlns:a16="http://schemas.microsoft.com/office/drawing/2014/main" id="{2C9BB052-95D1-F958-3AB1-E3A591927557}"/>
              </a:ext>
            </a:extLst>
          </p:cNvPr>
          <p:cNvSpPr/>
          <p:nvPr/>
        </p:nvSpPr>
        <p:spPr>
          <a:xfrm rot="16200000">
            <a:off x="5357784" y="2787099"/>
            <a:ext cx="392378" cy="213617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A21D9088-AE74-B19C-1109-0393D65B0CF9}"/>
              </a:ext>
            </a:extLst>
          </p:cNvPr>
          <p:cNvSpPr/>
          <p:nvPr/>
        </p:nvSpPr>
        <p:spPr>
          <a:xfrm>
            <a:off x="2464201" y="3568371"/>
            <a:ext cx="15422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原始需求，语义拆解</a:t>
            </a: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DF69F686-0FD8-3776-0AF2-4C7AEC104E18}"/>
              </a:ext>
            </a:extLst>
          </p:cNvPr>
          <p:cNvSpPr/>
          <p:nvPr/>
        </p:nvSpPr>
        <p:spPr>
          <a:xfrm rot="16200000">
            <a:off x="2952193" y="3141903"/>
            <a:ext cx="385639" cy="268658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0933B03-85C6-DDCD-9E66-3A2F150CB0AC}"/>
              </a:ext>
            </a:extLst>
          </p:cNvPr>
          <p:cNvSpPr/>
          <p:nvPr/>
        </p:nvSpPr>
        <p:spPr>
          <a:xfrm>
            <a:off x="2728191" y="4204867"/>
            <a:ext cx="114391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确认或执行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3F33BFF-227E-059B-DD4F-E78E2CC64D59}"/>
              </a:ext>
            </a:extLst>
          </p:cNvPr>
          <p:cNvCxnSpPr>
            <a:cxnSpLocks/>
          </p:cNvCxnSpPr>
          <p:nvPr/>
        </p:nvCxnSpPr>
        <p:spPr>
          <a:xfrm>
            <a:off x="1507236" y="3568371"/>
            <a:ext cx="0" cy="938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AB97E47-E6AB-C8D8-6620-13B47381F0C4}"/>
              </a:ext>
            </a:extLst>
          </p:cNvPr>
          <p:cNvSpPr/>
          <p:nvPr/>
        </p:nvSpPr>
        <p:spPr>
          <a:xfrm>
            <a:off x="1040768" y="3872542"/>
            <a:ext cx="49036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endParaRPr lang="en-US" altLang="zh-CN" sz="11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34381B-F5E2-E4A7-BDE3-0A317B252EEB}"/>
              </a:ext>
            </a:extLst>
          </p:cNvPr>
          <p:cNvSpPr/>
          <p:nvPr/>
        </p:nvSpPr>
        <p:spPr>
          <a:xfrm>
            <a:off x="4831663" y="4718267"/>
            <a:ext cx="149819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自动化系统范围边界完善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49F7D0-F333-60E4-2133-2CE3576017BB}"/>
              </a:ext>
            </a:extLst>
          </p:cNvPr>
          <p:cNvSpPr/>
          <p:nvPr/>
        </p:nvSpPr>
        <p:spPr>
          <a:xfrm>
            <a:off x="4668895" y="3584529"/>
            <a:ext cx="189474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第一次分发，获取做与不做</a:t>
            </a:r>
          </a:p>
        </p:txBody>
      </p:sp>
      <p:sp>
        <p:nvSpPr>
          <p:cNvPr id="16" name="左大括号 15">
            <a:extLst>
              <a:ext uri="{FF2B5EF4-FFF2-40B4-BE49-F238E27FC236}">
                <a16:creationId xmlns:a16="http://schemas.microsoft.com/office/drawing/2014/main" id="{A164F2CE-DE5A-40CA-6092-AF4F64528E93}"/>
              </a:ext>
            </a:extLst>
          </p:cNvPr>
          <p:cNvSpPr/>
          <p:nvPr/>
        </p:nvSpPr>
        <p:spPr>
          <a:xfrm rot="16200000">
            <a:off x="5369272" y="3412805"/>
            <a:ext cx="392378" cy="213617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225B724-817D-18E8-59E7-26464BF20129}"/>
              </a:ext>
            </a:extLst>
          </p:cNvPr>
          <p:cNvSpPr/>
          <p:nvPr/>
        </p:nvSpPr>
        <p:spPr>
          <a:xfrm>
            <a:off x="4680383" y="4210235"/>
            <a:ext cx="189474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确认或调整</a:t>
            </a:r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7F07EBCB-AF88-9D42-7DB0-C5A0982DCB85}"/>
              </a:ext>
            </a:extLst>
          </p:cNvPr>
          <p:cNvSpPr/>
          <p:nvPr/>
        </p:nvSpPr>
        <p:spPr>
          <a:xfrm rot="16200000">
            <a:off x="7756666" y="3198369"/>
            <a:ext cx="357671" cy="256743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55E380A-3ECF-1972-CD4D-7FD8E7C6C13E}"/>
              </a:ext>
            </a:extLst>
          </p:cNvPr>
          <p:cNvSpPr/>
          <p:nvPr/>
        </p:nvSpPr>
        <p:spPr>
          <a:xfrm>
            <a:off x="7284542" y="3556298"/>
            <a:ext cx="167354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确认需求的改动点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67D313-4518-9889-6B25-909DD78466C8}"/>
              </a:ext>
            </a:extLst>
          </p:cNvPr>
          <p:cNvSpPr/>
          <p:nvPr/>
        </p:nvSpPr>
        <p:spPr>
          <a:xfrm>
            <a:off x="6964088" y="4220576"/>
            <a:ext cx="189474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输出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个方案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EF05E2-1271-C92D-76FA-0987535D55F2}"/>
              </a:ext>
            </a:extLst>
          </p:cNvPr>
          <p:cNvSpPr/>
          <p:nvPr/>
        </p:nvSpPr>
        <p:spPr>
          <a:xfrm>
            <a:off x="7281620" y="4707819"/>
            <a:ext cx="149819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人员确认和调整最终的方案</a:t>
            </a:r>
          </a:p>
        </p:txBody>
      </p:sp>
    </p:spTree>
    <p:extLst>
      <p:ext uri="{BB962C8B-B14F-4D97-AF65-F5344CB8AC3E}">
        <p14:creationId xmlns:p14="http://schemas.microsoft.com/office/powerpoint/2010/main" val="3530647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811D-0B9B-AF77-957E-F1ED0CC54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3E24743-A1AE-CBF3-42FB-48B46E3CD77C}"/>
              </a:ext>
            </a:extLst>
          </p:cNvPr>
          <p:cNvCxnSpPr>
            <a:cxnSpLocks/>
            <a:stCxn id="9" idx="1"/>
            <a:endCxn id="12" idx="1"/>
          </p:cNvCxnSpPr>
          <p:nvPr/>
        </p:nvCxnSpPr>
        <p:spPr>
          <a:xfrm>
            <a:off x="4271508" y="1605188"/>
            <a:ext cx="1824492" cy="10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2" name="TextBox 35">
            <a:extLst>
              <a:ext uri="{FF2B5EF4-FFF2-40B4-BE49-F238E27FC236}">
                <a16:creationId xmlns:a16="http://schemas.microsoft.com/office/drawing/2014/main" id="{970556EE-66C3-D692-843B-8A39FAE87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0183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1.0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版本：懂技术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71EB31B6-0B5F-299A-5043-5DD46B8C16AD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5</a:t>
            </a:fld>
            <a:endParaRPr kumimoji="1" lang="zh-CN" altLang="en-US" sz="24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36F6D0-D3B5-B9EA-470E-35BA69A6774B}"/>
              </a:ext>
            </a:extLst>
          </p:cNvPr>
          <p:cNvSpPr/>
          <p:nvPr/>
        </p:nvSpPr>
        <p:spPr>
          <a:xfrm>
            <a:off x="801839" y="1290238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用户请求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424A87-1C2A-E3F9-7745-2969AAEB431A}"/>
              </a:ext>
            </a:extLst>
          </p:cNvPr>
          <p:cNvSpPr/>
          <p:nvPr/>
        </p:nvSpPr>
        <p:spPr>
          <a:xfrm>
            <a:off x="3070554" y="1290238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RESTAPI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EBF741B-F63C-B8F0-DF15-781FF44E4B66}"/>
              </a:ext>
            </a:extLst>
          </p:cNvPr>
          <p:cNvCxnSpPr>
            <a:stCxn id="2" idx="3"/>
          </p:cNvCxnSpPr>
          <p:nvPr/>
        </p:nvCxnSpPr>
        <p:spPr>
          <a:xfrm>
            <a:off x="1969858" y="1605190"/>
            <a:ext cx="9638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左大括号 8">
            <a:extLst>
              <a:ext uri="{FF2B5EF4-FFF2-40B4-BE49-F238E27FC236}">
                <a16:creationId xmlns:a16="http://schemas.microsoft.com/office/drawing/2014/main" id="{54D88E54-A812-4FDE-A977-6988E4428B91}"/>
              </a:ext>
            </a:extLst>
          </p:cNvPr>
          <p:cNvSpPr/>
          <p:nvPr/>
        </p:nvSpPr>
        <p:spPr>
          <a:xfrm>
            <a:off x="4271508" y="1153672"/>
            <a:ext cx="552502" cy="9030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892986-FA02-7F71-F312-70B7BAA2C3C1}"/>
              </a:ext>
            </a:extLst>
          </p:cNvPr>
          <p:cNvSpPr/>
          <p:nvPr/>
        </p:nvSpPr>
        <p:spPr>
          <a:xfrm>
            <a:off x="4547759" y="1189688"/>
            <a:ext cx="1378962" cy="73866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新需求分析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迭代分析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状态反馈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6AE7850-FC88-6676-D50B-1E0665824AF1}"/>
              </a:ext>
            </a:extLst>
          </p:cNvPr>
          <p:cNvSpPr/>
          <p:nvPr/>
        </p:nvSpPr>
        <p:spPr>
          <a:xfrm>
            <a:off x="6096000" y="130038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需求分析核心处理器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AFD698-B900-C36C-E96D-8DA877C6130E}"/>
              </a:ext>
            </a:extLst>
          </p:cNvPr>
          <p:cNvSpPr/>
          <p:nvPr/>
        </p:nvSpPr>
        <p:spPr>
          <a:xfrm>
            <a:off x="7659099" y="1164149"/>
            <a:ext cx="2581335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会话场景处理。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架构核心处理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驱动场景分类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执行循环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9DA555E4-9058-CC1C-06FE-884FCD824802}"/>
              </a:ext>
            </a:extLst>
          </p:cNvPr>
          <p:cNvSpPr/>
          <p:nvPr/>
        </p:nvSpPr>
        <p:spPr>
          <a:xfrm>
            <a:off x="7297257" y="1189688"/>
            <a:ext cx="552502" cy="90303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E9A5E4-48D1-E18D-DA3A-0087D7B94A65}"/>
              </a:ext>
            </a:extLst>
          </p:cNvPr>
          <p:cNvSpPr/>
          <p:nvPr/>
        </p:nvSpPr>
        <p:spPr>
          <a:xfrm>
            <a:off x="1142008" y="2836297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3A0F0B-F83D-7E4D-2639-825A435FA8AF}"/>
              </a:ext>
            </a:extLst>
          </p:cNvPr>
          <p:cNvSpPr/>
          <p:nvPr/>
        </p:nvSpPr>
        <p:spPr>
          <a:xfrm>
            <a:off x="5051564" y="2836297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C50E694-008F-C572-6CFE-43A105763368}"/>
              </a:ext>
            </a:extLst>
          </p:cNvPr>
          <p:cNvSpPr/>
          <p:nvPr/>
        </p:nvSpPr>
        <p:spPr>
          <a:xfrm>
            <a:off x="8737600" y="2836297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专家知识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9AC15B46-638C-82FB-5B8C-C7B6CB903482}"/>
              </a:ext>
            </a:extLst>
          </p:cNvPr>
          <p:cNvCxnSpPr>
            <a:stCxn id="12" idx="2"/>
            <a:endCxn id="19" idx="0"/>
          </p:cNvCxnSpPr>
          <p:nvPr/>
        </p:nvCxnSpPr>
        <p:spPr>
          <a:xfrm rot="5400000">
            <a:off x="3750010" y="-93703"/>
            <a:ext cx="906008" cy="495399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DEDEE316-CE07-84EE-2563-FB7F52143ACF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 rot="5400000">
            <a:off x="5704788" y="1861075"/>
            <a:ext cx="906008" cy="10444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937420EC-1E09-4FAE-1103-DD6664953390}"/>
              </a:ext>
            </a:extLst>
          </p:cNvPr>
          <p:cNvCxnSpPr>
            <a:cxnSpLocks/>
            <a:stCxn id="12" idx="2"/>
            <a:endCxn id="21" idx="0"/>
          </p:cNvCxnSpPr>
          <p:nvPr/>
        </p:nvCxnSpPr>
        <p:spPr>
          <a:xfrm rot="16200000" flipH="1">
            <a:off x="7547806" y="1062493"/>
            <a:ext cx="906008" cy="26416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左大括号 34">
            <a:extLst>
              <a:ext uri="{FF2B5EF4-FFF2-40B4-BE49-F238E27FC236}">
                <a16:creationId xmlns:a16="http://schemas.microsoft.com/office/drawing/2014/main" id="{19208B5A-FDA2-A637-9126-38EAF4014013}"/>
              </a:ext>
            </a:extLst>
          </p:cNvPr>
          <p:cNvSpPr/>
          <p:nvPr/>
        </p:nvSpPr>
        <p:spPr>
          <a:xfrm rot="5400000">
            <a:off x="1569363" y="2648183"/>
            <a:ext cx="313306" cy="19493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ADF973D-6CB0-C353-738A-FBD12C436DEA}"/>
              </a:ext>
            </a:extLst>
          </p:cNvPr>
          <p:cNvSpPr/>
          <p:nvPr/>
        </p:nvSpPr>
        <p:spPr>
          <a:xfrm>
            <a:off x="544714" y="3872289"/>
            <a:ext cx="3530625" cy="27392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工具注册，调用管理。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自动化工具管理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增强工具列表：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file_write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工具文件写入</a:t>
            </a:r>
          </a:p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file_edit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工具文件编辑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business_analysis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工具业务分析</a:t>
            </a:r>
          </a:p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string_search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工具字符串搜索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neo4j_tool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工具字符串搜索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Spoon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语法树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bge-m3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向量模型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Jvector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向量库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嵌入式数据库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左大括号 39">
            <a:extLst>
              <a:ext uri="{FF2B5EF4-FFF2-40B4-BE49-F238E27FC236}">
                <a16:creationId xmlns:a16="http://schemas.microsoft.com/office/drawing/2014/main" id="{A8917B04-EBD8-3159-C9D3-6F90CBE2955A}"/>
              </a:ext>
            </a:extLst>
          </p:cNvPr>
          <p:cNvSpPr/>
          <p:nvPr/>
        </p:nvSpPr>
        <p:spPr>
          <a:xfrm rot="5400000">
            <a:off x="5483713" y="2638242"/>
            <a:ext cx="313306" cy="19493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ECEC883-3DCD-1B85-BE39-2EABE5B04B61}"/>
              </a:ext>
            </a:extLst>
          </p:cNvPr>
          <p:cNvSpPr/>
          <p:nvPr/>
        </p:nvSpPr>
        <p:spPr>
          <a:xfrm>
            <a:off x="4090293" y="3869069"/>
            <a:ext cx="3390695" cy="187743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1.DeepSeek API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等交互服务。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2.analyzeWithDeepSeek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方法代码分析请求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3.callDeepSeekApiWithRetry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方法企业级重试机制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4.callDeepSeekApiWithJsonValidation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JSON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验证调用和处理。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可以集成现有的编码工具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左大括号 41">
            <a:extLst>
              <a:ext uri="{FF2B5EF4-FFF2-40B4-BE49-F238E27FC236}">
                <a16:creationId xmlns:a16="http://schemas.microsoft.com/office/drawing/2014/main" id="{00124BA2-6DA2-24B1-6559-56F46D49AABF}"/>
              </a:ext>
            </a:extLst>
          </p:cNvPr>
          <p:cNvSpPr/>
          <p:nvPr/>
        </p:nvSpPr>
        <p:spPr>
          <a:xfrm rot="5400000">
            <a:off x="9164957" y="2682090"/>
            <a:ext cx="313306" cy="19493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EAFD51B-2ABE-4F5A-81BD-0F53CD132A60}"/>
              </a:ext>
            </a:extLst>
          </p:cNvPr>
          <p:cNvSpPr/>
          <p:nvPr/>
        </p:nvSpPr>
        <p:spPr>
          <a:xfrm>
            <a:off x="8000810" y="3869069"/>
            <a:ext cx="3390695" cy="2246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1.ExpertKnowledgeService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专家知识管理服务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2.inferEntranceFromExpertKnowledge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推理入口类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3.adAllExpertKnowledge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方法加载专家知识文档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4.buildExpertPrompt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方法构建专家推理提示词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5.getExpertKnowledgeStats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方法获取知识统计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0484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417B4-8AA3-EBB8-BEAB-A73156C3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0448B565-4CD8-44F2-4BAA-FD20FB3CA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0183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2.0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版本：懂业务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A4844006-68C2-19A5-1514-CCFC992227DE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 smtClean="0"/>
              <a:pPr/>
              <a:t>6</a:t>
            </a:fld>
            <a:endParaRPr kumimoji="1" lang="zh-CN" altLang="en-US" sz="2400" dirty="0"/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BD01A4AF-0131-3E3C-35BA-1D51EDE8D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9" y="599889"/>
            <a:ext cx="5747657" cy="6258111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855918D-E2AD-51ED-CAE4-25C4F34B35E9}"/>
              </a:ext>
            </a:extLst>
          </p:cNvPr>
          <p:cNvSpPr/>
          <p:nvPr/>
        </p:nvSpPr>
        <p:spPr>
          <a:xfrm>
            <a:off x="6745240" y="2951946"/>
            <a:ext cx="4521200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像人一样接需求，然后回忆现有的业务流程。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大部分自动完善，再搞不定支持人员少量维护。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目标解决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90%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左右的复杂需求。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技术架构上业务开始占大头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，技术流程变小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4254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628B3-7865-DE38-544A-AB6C297F5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EFAD037A-72DA-1000-23CF-3DCDEC9D0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0183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3.0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版本：懂自我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CB53F222-E01C-E86B-2D0D-D0367865941A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7</a:t>
            </a:fld>
            <a:endParaRPr kumimoji="1" lang="zh-CN" altLang="en-US" sz="24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52C4D0D-8363-32CF-5259-90C4D216C054}"/>
              </a:ext>
            </a:extLst>
          </p:cNvPr>
          <p:cNvSpPr/>
          <p:nvPr/>
        </p:nvSpPr>
        <p:spPr>
          <a:xfrm>
            <a:off x="4986828" y="2704812"/>
            <a:ext cx="1766398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架构设计中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14079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ADF9F-8C21-4AD8-F69E-223D74C38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F544DE2D-DCE0-8308-5DD1-D63158FB5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500" y="2542661"/>
            <a:ext cx="346105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硅基人个人使用方式</a:t>
            </a:r>
            <a:endParaRPr lang="en-US" altLang="zh-CN" sz="2667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AB59727C-0B01-38F4-6EFB-AC5120FF58D2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8</a:t>
            </a:fld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17623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9A047-77D5-3DA2-5EDE-9DAC23F9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C23B5740-6172-30F1-55E7-0410B67B8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1296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个人使用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364F876F-387F-4D31-E723-C992335AE7FD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9</a:t>
            </a:fld>
            <a:endParaRPr kumimoji="1" lang="zh-CN" altLang="en-US" sz="2400" dirty="0"/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5FFD4CCB-2FD5-7460-3361-2BC4327D5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8177" y="5801459"/>
            <a:ext cx="3788661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简单安装，直接使用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pic>
        <p:nvPicPr>
          <p:cNvPr id="13" name="图片 12" descr="电脑屏幕的手机截图&#10;&#10;AI 生成的内容可能不正确。">
            <a:extLst>
              <a:ext uri="{FF2B5EF4-FFF2-40B4-BE49-F238E27FC236}">
                <a16:creationId xmlns:a16="http://schemas.microsoft.com/office/drawing/2014/main" id="{A4B38B0C-96D3-59FE-C94A-680153639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80" y="946067"/>
            <a:ext cx="9512789" cy="44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06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2C5D8-4511-A531-778B-F9A8256F0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A6F32946-9DA4-5FBF-085C-5B52C578F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1296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个人使用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89C7FF36-E226-BFF0-EA7E-CC502EB0DF20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10</a:t>
            </a:fld>
            <a:endParaRPr kumimoji="1" lang="zh-CN" altLang="en-US" sz="2400" dirty="0"/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DA0F9E74-C084-F12A-690C-535084BFD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1368" y="3144186"/>
            <a:ext cx="6570362" cy="91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运行几个初始化的命令，让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更聪明！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开始使用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!</a:t>
            </a:r>
            <a:r>
              <a:rPr lang="zh-CN" altLang="en-US" b="1" dirty="0"/>
              <a:t> </a:t>
            </a:r>
            <a:endParaRPr lang="en-US" altLang="zh-CN" sz="2667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3316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540F4-FD04-12AE-1667-4D33B428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515C9F4B-DB68-3978-91E4-8B726FDDF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500" y="2542661"/>
            <a:ext cx="3461050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硅基人企业使用方式</a:t>
            </a:r>
            <a:endParaRPr lang="en-US" altLang="zh-CN" sz="2667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23F0A973-87AC-0592-8A2E-96F11BC17718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11</a:t>
            </a:fld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335313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7213-4265-6D70-5359-C2144D55F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EA7FBDF5-EF84-3972-CB8B-A2ED43AB8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1296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企业架构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7FC65E02-63BE-AA3F-E85E-4380A94583AD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12</a:t>
            </a:fld>
            <a:endParaRPr kumimoji="1" lang="zh-CN" altLang="en-US" sz="2400" dirty="0"/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79C5CE3F-0C97-57A9-CB21-274C2F827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9377" y="5849586"/>
            <a:ext cx="7986803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复杂项目的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协同机制，编码是所有能力的桥接器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FDACFAC-EEF8-E839-F8D4-529F7879AA53}"/>
              </a:ext>
            </a:extLst>
          </p:cNvPr>
          <p:cNvSpPr/>
          <p:nvPr/>
        </p:nvSpPr>
        <p:spPr>
          <a:xfrm>
            <a:off x="2263169" y="1519680"/>
            <a:ext cx="3648075" cy="311072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9CAB87-795A-7164-8EA7-82E40A91FA0D}"/>
              </a:ext>
            </a:extLst>
          </p:cNvPr>
          <p:cNvSpPr/>
          <p:nvPr/>
        </p:nvSpPr>
        <p:spPr>
          <a:xfrm>
            <a:off x="490026" y="2762248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用户请求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9EDB2EF-05DE-2359-A5EC-F10B976AE985}"/>
              </a:ext>
            </a:extLst>
          </p:cNvPr>
          <p:cNvSpPr/>
          <p:nvPr/>
        </p:nvSpPr>
        <p:spPr>
          <a:xfrm>
            <a:off x="4371844" y="3461511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调度器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52FA1B85-93AB-2381-259C-10CF4433C38E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V="1">
            <a:off x="1658045" y="3075041"/>
            <a:ext cx="605124" cy="2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46D8259A-6ECF-E8DA-4B4E-C50C1C2A2223}"/>
              </a:ext>
            </a:extLst>
          </p:cNvPr>
          <p:cNvSpPr/>
          <p:nvPr/>
        </p:nvSpPr>
        <p:spPr>
          <a:xfrm>
            <a:off x="2677886" y="3461511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控制中心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C84FDE-B59D-8019-500F-D65E540EED86}"/>
              </a:ext>
            </a:extLst>
          </p:cNvPr>
          <p:cNvSpPr/>
          <p:nvPr/>
        </p:nvSpPr>
        <p:spPr>
          <a:xfrm>
            <a:off x="2263169" y="4634721"/>
            <a:ext cx="7799221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大模型服务层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0DCBDC7-E8D5-7936-2048-BECD1E3B6F5F}"/>
              </a:ext>
            </a:extLst>
          </p:cNvPr>
          <p:cNvSpPr/>
          <p:nvPr/>
        </p:nvSpPr>
        <p:spPr>
          <a:xfrm>
            <a:off x="2677887" y="2292622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意图识别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C88B30-F896-F8AC-6B0F-1E66BB119D3D}"/>
              </a:ext>
            </a:extLst>
          </p:cNvPr>
          <p:cNvSpPr/>
          <p:nvPr/>
        </p:nvSpPr>
        <p:spPr>
          <a:xfrm>
            <a:off x="4371845" y="2287486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需求点拆分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459BB5C-1BFA-1F91-93C3-F38DCEFE493F}"/>
              </a:ext>
            </a:extLst>
          </p:cNvPr>
          <p:cNvSpPr/>
          <p:nvPr/>
        </p:nvSpPr>
        <p:spPr>
          <a:xfrm>
            <a:off x="2263169" y="889776"/>
            <a:ext cx="7799221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现有的数据协议平台，全局通用数据中心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5">
            <a:extLst>
              <a:ext uri="{FF2B5EF4-FFF2-40B4-BE49-F238E27FC236}">
                <a16:creationId xmlns:a16="http://schemas.microsoft.com/office/drawing/2014/main" id="{70038D37-D8B6-173C-FC8B-FD14CB2234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0177" y="1602087"/>
            <a:ext cx="2094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集中控制中心大脑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33A24168-FFF8-C682-47C5-24827CAD06C3}"/>
              </a:ext>
            </a:extLst>
          </p:cNvPr>
          <p:cNvSpPr/>
          <p:nvPr/>
        </p:nvSpPr>
        <p:spPr>
          <a:xfrm>
            <a:off x="6735092" y="1530679"/>
            <a:ext cx="3327298" cy="13763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A613819-36A6-49F1-C590-807412358CF6}"/>
              </a:ext>
            </a:extLst>
          </p:cNvPr>
          <p:cNvSpPr/>
          <p:nvPr/>
        </p:nvSpPr>
        <p:spPr>
          <a:xfrm>
            <a:off x="6968032" y="2052068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范围决策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A7AABF1-AB01-C87C-9DC9-9799034AEB7B}"/>
              </a:ext>
            </a:extLst>
          </p:cNvPr>
          <p:cNvSpPr/>
          <p:nvPr/>
        </p:nvSpPr>
        <p:spPr>
          <a:xfrm>
            <a:off x="8590907" y="2052068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属主实现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35">
            <a:extLst>
              <a:ext uri="{FF2B5EF4-FFF2-40B4-BE49-F238E27FC236}">
                <a16:creationId xmlns:a16="http://schemas.microsoft.com/office/drawing/2014/main" id="{D48AA76D-8AA7-C33A-91A3-121457E9AE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8565" y="1599239"/>
            <a:ext cx="2094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子系统级别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F6DAB9A-ECEB-A0A7-CEBF-68B539D890C4}"/>
              </a:ext>
            </a:extLst>
          </p:cNvPr>
          <p:cNvSpPr/>
          <p:nvPr/>
        </p:nvSpPr>
        <p:spPr>
          <a:xfrm>
            <a:off x="6735092" y="3248310"/>
            <a:ext cx="3327298" cy="137634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F5D16A6-1AF1-3E1A-1CB6-82398F704A0D}"/>
              </a:ext>
            </a:extLst>
          </p:cNvPr>
          <p:cNvSpPr/>
          <p:nvPr/>
        </p:nvSpPr>
        <p:spPr>
          <a:xfrm>
            <a:off x="6968032" y="3769699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范围决策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C343905C-BAC5-E76A-CFB8-779991B60355}"/>
              </a:ext>
            </a:extLst>
          </p:cNvPr>
          <p:cNvSpPr/>
          <p:nvPr/>
        </p:nvSpPr>
        <p:spPr>
          <a:xfrm>
            <a:off x="8590907" y="3769699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属主实现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TextBox 35">
            <a:extLst>
              <a:ext uri="{FF2B5EF4-FFF2-40B4-BE49-F238E27FC236}">
                <a16:creationId xmlns:a16="http://schemas.microsoft.com/office/drawing/2014/main" id="{0F7E6D1D-A298-B486-FAF7-BD5A97482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8565" y="3316870"/>
            <a:ext cx="209408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子系统级别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B9B628B-F865-BA23-E149-AECE61C92927}"/>
              </a:ext>
            </a:extLst>
          </p:cNvPr>
          <p:cNvCxnSpPr>
            <a:cxnSpLocks/>
            <a:stCxn id="2" idx="3"/>
            <a:endCxn id="41" idx="1"/>
          </p:cNvCxnSpPr>
          <p:nvPr/>
        </p:nvCxnSpPr>
        <p:spPr>
          <a:xfrm flipV="1">
            <a:off x="5911244" y="2218853"/>
            <a:ext cx="823848" cy="856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361F74A-34DB-B474-AF7D-6E3E1F3DC2FE}"/>
              </a:ext>
            </a:extLst>
          </p:cNvPr>
          <p:cNvCxnSpPr>
            <a:cxnSpLocks/>
            <a:stCxn id="2" idx="3"/>
            <a:endCxn id="50" idx="1"/>
          </p:cNvCxnSpPr>
          <p:nvPr/>
        </p:nvCxnSpPr>
        <p:spPr>
          <a:xfrm>
            <a:off x="5911244" y="3075041"/>
            <a:ext cx="823848" cy="861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727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C2FA0-2828-1A20-FB26-16D06F6F4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1E34FB3A-BF1D-E06D-5D18-2D870CE40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0183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企业角色间的流转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83258D91-7F19-9109-93F3-4DAFB92B225F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13</a:t>
            </a:fld>
            <a:endParaRPr kumimoji="1" lang="zh-CN" altLang="en-US" sz="2400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06EF5C1-93A8-5F45-3019-EE2FCEEB4642}"/>
              </a:ext>
            </a:extLst>
          </p:cNvPr>
          <p:cNvSpPr/>
          <p:nvPr/>
        </p:nvSpPr>
        <p:spPr>
          <a:xfrm>
            <a:off x="498282" y="1301866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规划自有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9EF1C296-003C-016B-41AD-003C2A54584A}"/>
              </a:ext>
            </a:extLst>
          </p:cNvPr>
          <p:cNvSpPr/>
          <p:nvPr/>
        </p:nvSpPr>
        <p:spPr>
          <a:xfrm>
            <a:off x="498283" y="689033"/>
            <a:ext cx="165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D616CE71-8942-A891-C158-7A4A1BD65514}"/>
              </a:ext>
            </a:extLst>
          </p:cNvPr>
          <p:cNvSpPr/>
          <p:nvPr/>
        </p:nvSpPr>
        <p:spPr>
          <a:xfrm>
            <a:off x="2125518" y="1301866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系统定位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FC912F4-476F-1A91-B7E9-91018B5A6C8E}"/>
              </a:ext>
            </a:extLst>
          </p:cNvPr>
          <p:cNvSpPr/>
          <p:nvPr/>
        </p:nvSpPr>
        <p:spPr>
          <a:xfrm>
            <a:off x="3752755" y="1301866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子系统定位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2" name="右箭头 1">
            <a:extLst>
              <a:ext uri="{FF2B5EF4-FFF2-40B4-BE49-F238E27FC236}">
                <a16:creationId xmlns:a16="http://schemas.microsoft.com/office/drawing/2014/main" id="{7EE02842-32C1-DE83-06CB-B1DEA10176F8}"/>
              </a:ext>
            </a:extLst>
          </p:cNvPr>
          <p:cNvSpPr/>
          <p:nvPr/>
        </p:nvSpPr>
        <p:spPr>
          <a:xfrm>
            <a:off x="498283" y="1097109"/>
            <a:ext cx="4379997" cy="137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3BA0A8B-830F-93FD-BA5B-104AE838BA81}"/>
              </a:ext>
            </a:extLst>
          </p:cNvPr>
          <p:cNvSpPr/>
          <p:nvPr/>
        </p:nvSpPr>
        <p:spPr>
          <a:xfrm>
            <a:off x="498282" y="2320587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46" name="右箭头 45">
            <a:extLst>
              <a:ext uri="{FF2B5EF4-FFF2-40B4-BE49-F238E27FC236}">
                <a16:creationId xmlns:a16="http://schemas.microsoft.com/office/drawing/2014/main" id="{06708FF2-0F56-E3D0-0D01-7E26D9A84A7C}"/>
              </a:ext>
            </a:extLst>
          </p:cNvPr>
          <p:cNvSpPr/>
          <p:nvPr/>
        </p:nvSpPr>
        <p:spPr>
          <a:xfrm>
            <a:off x="498282" y="2969460"/>
            <a:ext cx="10356175" cy="723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66332FD-153A-DACF-0373-0F1D94D6884A}"/>
              </a:ext>
            </a:extLst>
          </p:cNvPr>
          <p:cNvSpPr/>
          <p:nvPr/>
        </p:nvSpPr>
        <p:spPr>
          <a:xfrm>
            <a:off x="498281" y="3062128"/>
            <a:ext cx="300829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基于需求流转的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D21D001-5A28-64FB-D839-8046EE6537AD}"/>
              </a:ext>
            </a:extLst>
          </p:cNvPr>
          <p:cNvCxnSpPr>
            <a:stCxn id="56" idx="2"/>
            <a:endCxn id="45" idx="0"/>
          </p:cNvCxnSpPr>
          <p:nvPr/>
        </p:nvCxnSpPr>
        <p:spPr>
          <a:xfrm>
            <a:off x="1072853" y="1872165"/>
            <a:ext cx="0" cy="448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6262F77-98D0-F7CD-AE75-79240D561816}"/>
              </a:ext>
            </a:extLst>
          </p:cNvPr>
          <p:cNvCxnSpPr>
            <a:stCxn id="42" idx="2"/>
            <a:endCxn id="45" idx="0"/>
          </p:cNvCxnSpPr>
          <p:nvPr/>
        </p:nvCxnSpPr>
        <p:spPr>
          <a:xfrm flipH="1">
            <a:off x="1072853" y="1872165"/>
            <a:ext cx="1627236" cy="448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DBFC5DC9-A8B4-C592-2E26-2C69372BA7AB}"/>
              </a:ext>
            </a:extLst>
          </p:cNvPr>
          <p:cNvCxnSpPr>
            <a:stCxn id="43" idx="2"/>
            <a:endCxn id="45" idx="0"/>
          </p:cNvCxnSpPr>
          <p:nvPr/>
        </p:nvCxnSpPr>
        <p:spPr>
          <a:xfrm flipH="1">
            <a:off x="1072853" y="1872165"/>
            <a:ext cx="3254473" cy="448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C109F5C5-B2CC-E38F-B4C5-1BFBBEB70FE5}"/>
              </a:ext>
            </a:extLst>
          </p:cNvPr>
          <p:cNvSpPr/>
          <p:nvPr/>
        </p:nvSpPr>
        <p:spPr>
          <a:xfrm>
            <a:off x="6602098" y="1263122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开发自有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7478E99-A2A8-B419-96B1-82F17D018752}"/>
              </a:ext>
            </a:extLst>
          </p:cNvPr>
          <p:cNvSpPr/>
          <p:nvPr/>
        </p:nvSpPr>
        <p:spPr>
          <a:xfrm>
            <a:off x="6602099" y="650289"/>
            <a:ext cx="165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5061A76-CB48-A864-5084-458CAF51769F}"/>
              </a:ext>
            </a:extLst>
          </p:cNvPr>
          <p:cNvSpPr/>
          <p:nvPr/>
        </p:nvSpPr>
        <p:spPr>
          <a:xfrm>
            <a:off x="8229334" y="1263122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代码库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135FF6D1-C170-E772-8548-94B2DFE72EED}"/>
              </a:ext>
            </a:extLst>
          </p:cNvPr>
          <p:cNvSpPr/>
          <p:nvPr/>
        </p:nvSpPr>
        <p:spPr>
          <a:xfrm>
            <a:off x="9856571" y="1263122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代码关系图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61" name="右箭头 60">
            <a:extLst>
              <a:ext uri="{FF2B5EF4-FFF2-40B4-BE49-F238E27FC236}">
                <a16:creationId xmlns:a16="http://schemas.microsoft.com/office/drawing/2014/main" id="{9E73F838-9662-8117-E0C8-B0EE9EAABDC8}"/>
              </a:ext>
            </a:extLst>
          </p:cNvPr>
          <p:cNvSpPr/>
          <p:nvPr/>
        </p:nvSpPr>
        <p:spPr>
          <a:xfrm>
            <a:off x="6602099" y="1058365"/>
            <a:ext cx="4379997" cy="137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3BCF2EA-0AF5-D8A3-6C47-70C0EBC71900}"/>
              </a:ext>
            </a:extLst>
          </p:cNvPr>
          <p:cNvSpPr/>
          <p:nvPr/>
        </p:nvSpPr>
        <p:spPr>
          <a:xfrm>
            <a:off x="6602098" y="2310871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子系统需求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57D5CB0F-6420-D457-B398-68793CE25133}"/>
              </a:ext>
            </a:extLst>
          </p:cNvPr>
          <p:cNvSpPr/>
          <p:nvPr/>
        </p:nvSpPr>
        <p:spPr>
          <a:xfrm>
            <a:off x="6800182" y="3135845"/>
            <a:ext cx="475129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继承流转过来的需求相关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代码相关的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3A5721FC-04D3-6F7F-F69A-7532633FA02D}"/>
              </a:ext>
            </a:extLst>
          </p:cNvPr>
          <p:cNvSpPr/>
          <p:nvPr/>
        </p:nvSpPr>
        <p:spPr>
          <a:xfrm>
            <a:off x="8229333" y="2310871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4329054E-FEBF-932C-9AF9-7932DACD820F}"/>
              </a:ext>
            </a:extLst>
          </p:cNvPr>
          <p:cNvSpPr/>
          <p:nvPr/>
        </p:nvSpPr>
        <p:spPr>
          <a:xfrm>
            <a:off x="9886031" y="2310871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TODO</a:t>
            </a: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8FD7A173-C643-7E7A-F3FA-A6458B6AEF0E}"/>
              </a:ext>
            </a:extLst>
          </p:cNvPr>
          <p:cNvCxnSpPr>
            <a:stCxn id="57" idx="2"/>
          </p:cNvCxnSpPr>
          <p:nvPr/>
        </p:nvCxnSpPr>
        <p:spPr>
          <a:xfrm>
            <a:off x="7176669" y="1833421"/>
            <a:ext cx="1589202" cy="483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DD5BA7DA-8D32-4D10-CD21-770C486FD205}"/>
              </a:ext>
            </a:extLst>
          </p:cNvPr>
          <p:cNvCxnSpPr>
            <a:stCxn id="59" idx="2"/>
            <a:endCxn id="67" idx="0"/>
          </p:cNvCxnSpPr>
          <p:nvPr/>
        </p:nvCxnSpPr>
        <p:spPr>
          <a:xfrm flipH="1">
            <a:off x="8803904" y="1833421"/>
            <a:ext cx="1" cy="477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CACCC945-5C88-6178-45B2-25B6F0E498CA}"/>
              </a:ext>
            </a:extLst>
          </p:cNvPr>
          <p:cNvCxnSpPr>
            <a:stCxn id="60" idx="2"/>
            <a:endCxn id="67" idx="0"/>
          </p:cNvCxnSpPr>
          <p:nvPr/>
        </p:nvCxnSpPr>
        <p:spPr>
          <a:xfrm flipH="1">
            <a:off x="8803904" y="1833421"/>
            <a:ext cx="1627238" cy="477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F2D2CB67-3B02-15F2-D428-E62C667C5280}"/>
              </a:ext>
            </a:extLst>
          </p:cNvPr>
          <p:cNvSpPr/>
          <p:nvPr/>
        </p:nvSpPr>
        <p:spPr>
          <a:xfrm>
            <a:off x="3752754" y="2317376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子系统需求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E590468A-ADD5-D022-252E-5A29CE0764C1}"/>
              </a:ext>
            </a:extLst>
          </p:cNvPr>
          <p:cNvCxnSpPr>
            <a:stCxn id="45" idx="3"/>
            <a:endCxn id="79" idx="1"/>
          </p:cNvCxnSpPr>
          <p:nvPr/>
        </p:nvCxnSpPr>
        <p:spPr>
          <a:xfrm flipV="1">
            <a:off x="1647423" y="2602526"/>
            <a:ext cx="2105331" cy="32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右箭头 18">
            <a:extLst>
              <a:ext uri="{FF2B5EF4-FFF2-40B4-BE49-F238E27FC236}">
                <a16:creationId xmlns:a16="http://schemas.microsoft.com/office/drawing/2014/main" id="{B244A63F-BF7B-7B5B-1496-CB59CB29C24C}"/>
              </a:ext>
            </a:extLst>
          </p:cNvPr>
          <p:cNvSpPr/>
          <p:nvPr/>
        </p:nvSpPr>
        <p:spPr>
          <a:xfrm>
            <a:off x="5601176" y="1923130"/>
            <a:ext cx="528349" cy="336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D4A26B29-870C-890E-AD5D-95AE5FAE69A7}"/>
              </a:ext>
            </a:extLst>
          </p:cNvPr>
          <p:cNvCxnSpPr>
            <a:stCxn id="62" idx="3"/>
            <a:endCxn id="67" idx="1"/>
          </p:cNvCxnSpPr>
          <p:nvPr/>
        </p:nvCxnSpPr>
        <p:spPr>
          <a:xfrm>
            <a:off x="7751239" y="2596021"/>
            <a:ext cx="4780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>
            <a:extLst>
              <a:ext uri="{FF2B5EF4-FFF2-40B4-BE49-F238E27FC236}">
                <a16:creationId xmlns:a16="http://schemas.microsoft.com/office/drawing/2014/main" id="{65CED476-E86B-F635-9686-A0D0B73A611B}"/>
              </a:ext>
            </a:extLst>
          </p:cNvPr>
          <p:cNvCxnSpPr>
            <a:stCxn id="67" idx="3"/>
            <a:endCxn id="72" idx="1"/>
          </p:cNvCxnSpPr>
          <p:nvPr/>
        </p:nvCxnSpPr>
        <p:spPr>
          <a:xfrm>
            <a:off x="9378474" y="2596021"/>
            <a:ext cx="5075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C4B7D33E-F41E-922E-76BE-BBC1DDE44D0E}"/>
              </a:ext>
            </a:extLst>
          </p:cNvPr>
          <p:cNvSpPr/>
          <p:nvPr/>
        </p:nvSpPr>
        <p:spPr>
          <a:xfrm>
            <a:off x="498281" y="4415337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测试自有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conetxt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735006D5-1646-7F10-CBB0-E23D5DBF019B}"/>
              </a:ext>
            </a:extLst>
          </p:cNvPr>
          <p:cNvSpPr/>
          <p:nvPr/>
        </p:nvSpPr>
        <p:spPr>
          <a:xfrm>
            <a:off x="498282" y="3802504"/>
            <a:ext cx="165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913AF644-5780-CE8C-E1B2-D660AB1EEF70}"/>
              </a:ext>
            </a:extLst>
          </p:cNvPr>
          <p:cNvSpPr/>
          <p:nvPr/>
        </p:nvSpPr>
        <p:spPr>
          <a:xfrm>
            <a:off x="2125517" y="4415337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开发相关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FA0F0685-EE91-CC0D-59C5-DE0C0226EFF6}"/>
              </a:ext>
            </a:extLst>
          </p:cNvPr>
          <p:cNvSpPr/>
          <p:nvPr/>
        </p:nvSpPr>
        <p:spPr>
          <a:xfrm>
            <a:off x="3752754" y="4415337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需求相关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134" name="右箭头 133">
            <a:extLst>
              <a:ext uri="{FF2B5EF4-FFF2-40B4-BE49-F238E27FC236}">
                <a16:creationId xmlns:a16="http://schemas.microsoft.com/office/drawing/2014/main" id="{C03CB221-A841-FF9D-1189-16FDD587ADD0}"/>
              </a:ext>
            </a:extLst>
          </p:cNvPr>
          <p:cNvSpPr/>
          <p:nvPr/>
        </p:nvSpPr>
        <p:spPr>
          <a:xfrm>
            <a:off x="498282" y="4210580"/>
            <a:ext cx="4379997" cy="137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40592DE-3627-0EC1-7DC2-029DCE4D1A47}"/>
              </a:ext>
            </a:extLst>
          </p:cNvPr>
          <p:cNvSpPr/>
          <p:nvPr/>
        </p:nvSpPr>
        <p:spPr>
          <a:xfrm>
            <a:off x="498281" y="5434058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依赖前面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136" name="右箭头 135">
            <a:extLst>
              <a:ext uri="{FF2B5EF4-FFF2-40B4-BE49-F238E27FC236}">
                <a16:creationId xmlns:a16="http://schemas.microsoft.com/office/drawing/2014/main" id="{AE0C6690-B3EE-3AA1-4BCE-441ED4630F30}"/>
              </a:ext>
            </a:extLst>
          </p:cNvPr>
          <p:cNvSpPr/>
          <p:nvPr/>
        </p:nvSpPr>
        <p:spPr>
          <a:xfrm>
            <a:off x="498281" y="6082931"/>
            <a:ext cx="10356175" cy="723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EF9FE4E2-10E9-9DAA-C34C-6FE0516707B5}"/>
              </a:ext>
            </a:extLst>
          </p:cNvPr>
          <p:cNvCxnSpPr>
            <a:stCxn id="130" idx="2"/>
            <a:endCxn id="153" idx="0"/>
          </p:cNvCxnSpPr>
          <p:nvPr/>
        </p:nvCxnSpPr>
        <p:spPr>
          <a:xfrm>
            <a:off x="1072852" y="4985636"/>
            <a:ext cx="3254472" cy="4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D932B7ED-0BD2-F71B-F8DA-CEC85D112733}"/>
              </a:ext>
            </a:extLst>
          </p:cNvPr>
          <p:cNvCxnSpPr>
            <a:stCxn id="132" idx="2"/>
            <a:endCxn id="153" idx="0"/>
          </p:cNvCxnSpPr>
          <p:nvPr/>
        </p:nvCxnSpPr>
        <p:spPr>
          <a:xfrm>
            <a:off x="2700088" y="4985636"/>
            <a:ext cx="1627236" cy="4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513838CC-F574-A9D1-ED5B-DC48A428449C}"/>
              </a:ext>
            </a:extLst>
          </p:cNvPr>
          <p:cNvCxnSpPr>
            <a:stCxn id="133" idx="2"/>
            <a:endCxn id="153" idx="0"/>
          </p:cNvCxnSpPr>
          <p:nvPr/>
        </p:nvCxnSpPr>
        <p:spPr>
          <a:xfrm flipH="1">
            <a:off x="4327324" y="4985636"/>
            <a:ext cx="1" cy="45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矩形 140">
            <a:extLst>
              <a:ext uri="{FF2B5EF4-FFF2-40B4-BE49-F238E27FC236}">
                <a16:creationId xmlns:a16="http://schemas.microsoft.com/office/drawing/2014/main" id="{ED57B403-F908-E36D-16EB-AEF98DA3680C}"/>
              </a:ext>
            </a:extLst>
          </p:cNvPr>
          <p:cNvSpPr/>
          <p:nvPr/>
        </p:nvSpPr>
        <p:spPr>
          <a:xfrm>
            <a:off x="6602097" y="4376593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运维自有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142" name="矩形 141">
            <a:extLst>
              <a:ext uri="{FF2B5EF4-FFF2-40B4-BE49-F238E27FC236}">
                <a16:creationId xmlns:a16="http://schemas.microsoft.com/office/drawing/2014/main" id="{6D9BD705-CC5A-588A-DCF7-4267946BF35A}"/>
              </a:ext>
            </a:extLst>
          </p:cNvPr>
          <p:cNvSpPr/>
          <p:nvPr/>
        </p:nvSpPr>
        <p:spPr>
          <a:xfrm>
            <a:off x="6602098" y="3763760"/>
            <a:ext cx="165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全局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9AB7D852-9F6E-5D7E-22FB-7556ED70DA7F}"/>
              </a:ext>
            </a:extLst>
          </p:cNvPr>
          <p:cNvSpPr/>
          <p:nvPr/>
        </p:nvSpPr>
        <p:spPr>
          <a:xfrm>
            <a:off x="8229333" y="4376593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代码相关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id="{E36150CE-0711-A0D4-F10D-F93ABA1CBF71}"/>
              </a:ext>
            </a:extLst>
          </p:cNvPr>
          <p:cNvSpPr/>
          <p:nvPr/>
        </p:nvSpPr>
        <p:spPr>
          <a:xfrm>
            <a:off x="9856570" y="4376593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需求相关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145" name="右箭头 144">
            <a:extLst>
              <a:ext uri="{FF2B5EF4-FFF2-40B4-BE49-F238E27FC236}">
                <a16:creationId xmlns:a16="http://schemas.microsoft.com/office/drawing/2014/main" id="{9ADEC54E-E459-D6CD-F5E6-8923B9C3C9BA}"/>
              </a:ext>
            </a:extLst>
          </p:cNvPr>
          <p:cNvSpPr/>
          <p:nvPr/>
        </p:nvSpPr>
        <p:spPr>
          <a:xfrm>
            <a:off x="6602098" y="4171836"/>
            <a:ext cx="4379997" cy="137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A2D8794D-3CBE-A6C1-C4E0-F39FF6085F89}"/>
              </a:ext>
            </a:extLst>
          </p:cNvPr>
          <p:cNvSpPr/>
          <p:nvPr/>
        </p:nvSpPr>
        <p:spPr>
          <a:xfrm>
            <a:off x="6602097" y="5438856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依赖前面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E4482CFB-42C8-A29B-8F0A-1207B4C00DBF}"/>
              </a:ext>
            </a:extLst>
          </p:cNvPr>
          <p:cNvSpPr/>
          <p:nvPr/>
        </p:nvSpPr>
        <p:spPr>
          <a:xfrm>
            <a:off x="9886030" y="5424342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监控相关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7295A16B-BC5D-1A46-CD9D-975E7D080AE3}"/>
              </a:ext>
            </a:extLst>
          </p:cNvPr>
          <p:cNvCxnSpPr>
            <a:stCxn id="141" idx="2"/>
            <a:endCxn id="149" idx="0"/>
          </p:cNvCxnSpPr>
          <p:nvPr/>
        </p:nvCxnSpPr>
        <p:spPr>
          <a:xfrm>
            <a:off x="7176668" y="4946892"/>
            <a:ext cx="3283933" cy="477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>
            <a:extLst>
              <a:ext uri="{FF2B5EF4-FFF2-40B4-BE49-F238E27FC236}">
                <a16:creationId xmlns:a16="http://schemas.microsoft.com/office/drawing/2014/main" id="{C83EA677-FC78-4A53-7681-7E24E8E0EDE8}"/>
              </a:ext>
            </a:extLst>
          </p:cNvPr>
          <p:cNvCxnSpPr>
            <a:stCxn id="143" idx="2"/>
            <a:endCxn id="149" idx="0"/>
          </p:cNvCxnSpPr>
          <p:nvPr/>
        </p:nvCxnSpPr>
        <p:spPr>
          <a:xfrm>
            <a:off x="8803904" y="4946892"/>
            <a:ext cx="1656697" cy="477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箭头连接符 151">
            <a:extLst>
              <a:ext uri="{FF2B5EF4-FFF2-40B4-BE49-F238E27FC236}">
                <a16:creationId xmlns:a16="http://schemas.microsoft.com/office/drawing/2014/main" id="{A93119EE-A51F-7F3C-797D-D82FC5635BBC}"/>
              </a:ext>
            </a:extLst>
          </p:cNvPr>
          <p:cNvCxnSpPr>
            <a:stCxn id="144" idx="2"/>
          </p:cNvCxnSpPr>
          <p:nvPr/>
        </p:nvCxnSpPr>
        <p:spPr>
          <a:xfrm flipH="1">
            <a:off x="10418445" y="4946892"/>
            <a:ext cx="12696" cy="5129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8399BB55-501D-26B4-99BA-515A03EC81EC}"/>
              </a:ext>
            </a:extLst>
          </p:cNvPr>
          <p:cNvSpPr/>
          <p:nvPr/>
        </p:nvSpPr>
        <p:spPr>
          <a:xfrm>
            <a:off x="3752753" y="5445361"/>
            <a:ext cx="1149141" cy="570299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测试案例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C1609F3C-0764-6D7D-085E-6C1E6F5B18CF}"/>
              </a:ext>
            </a:extLst>
          </p:cNvPr>
          <p:cNvCxnSpPr>
            <a:stCxn id="135" idx="3"/>
            <a:endCxn id="153" idx="1"/>
          </p:cNvCxnSpPr>
          <p:nvPr/>
        </p:nvCxnSpPr>
        <p:spPr>
          <a:xfrm>
            <a:off x="1647422" y="5719208"/>
            <a:ext cx="2105331" cy="11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右箭头 154">
            <a:extLst>
              <a:ext uri="{FF2B5EF4-FFF2-40B4-BE49-F238E27FC236}">
                <a16:creationId xmlns:a16="http://schemas.microsoft.com/office/drawing/2014/main" id="{50C4C8E0-8FD8-AB2C-E8E4-7CADF381450E}"/>
              </a:ext>
            </a:extLst>
          </p:cNvPr>
          <p:cNvSpPr/>
          <p:nvPr/>
        </p:nvSpPr>
        <p:spPr>
          <a:xfrm>
            <a:off x="5493697" y="5010868"/>
            <a:ext cx="528349" cy="336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AA1F66FD-D506-2A83-40FD-3C63BC4FCA8D}"/>
              </a:ext>
            </a:extLst>
          </p:cNvPr>
          <p:cNvCxnSpPr>
            <a:stCxn id="146" idx="3"/>
            <a:endCxn id="149" idx="1"/>
          </p:cNvCxnSpPr>
          <p:nvPr/>
        </p:nvCxnSpPr>
        <p:spPr>
          <a:xfrm flipV="1">
            <a:off x="7751238" y="5709492"/>
            <a:ext cx="2134792" cy="14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>
            <a:extLst>
              <a:ext uri="{FF2B5EF4-FFF2-40B4-BE49-F238E27FC236}">
                <a16:creationId xmlns:a16="http://schemas.microsoft.com/office/drawing/2014/main" id="{CE0797DE-CDBF-ED92-E9FF-7999A238518C}"/>
              </a:ext>
            </a:extLst>
          </p:cNvPr>
          <p:cNvSpPr/>
          <p:nvPr/>
        </p:nvSpPr>
        <p:spPr>
          <a:xfrm>
            <a:off x="397493" y="6342514"/>
            <a:ext cx="60323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继承流转过来的需求相关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代码相关的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0466261B-5DAB-148D-421F-F05084DF0A5F}"/>
              </a:ext>
            </a:extLst>
          </p:cNvPr>
          <p:cNvSpPr/>
          <p:nvPr/>
        </p:nvSpPr>
        <p:spPr>
          <a:xfrm>
            <a:off x="6159664" y="6329336"/>
            <a:ext cx="603233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继承流转过来的需求相关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代码相关的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context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右箭头 159">
            <a:extLst>
              <a:ext uri="{FF2B5EF4-FFF2-40B4-BE49-F238E27FC236}">
                <a16:creationId xmlns:a16="http://schemas.microsoft.com/office/drawing/2014/main" id="{93624781-4A46-C01A-5081-50723E2B6A3F}"/>
              </a:ext>
            </a:extLst>
          </p:cNvPr>
          <p:cNvSpPr/>
          <p:nvPr/>
        </p:nvSpPr>
        <p:spPr>
          <a:xfrm>
            <a:off x="224874" y="5098886"/>
            <a:ext cx="333829" cy="2862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A3BB753-BDEB-2FFF-E484-98E7916A82FB}"/>
              </a:ext>
            </a:extLst>
          </p:cNvPr>
          <p:cNvSpPr/>
          <p:nvPr/>
        </p:nvSpPr>
        <p:spPr>
          <a:xfrm>
            <a:off x="2187192" y="672694"/>
            <a:ext cx="165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C3034A27-7CB2-212C-7D07-6264A075C433}"/>
              </a:ext>
            </a:extLst>
          </p:cNvPr>
          <p:cNvSpPr/>
          <p:nvPr/>
        </p:nvSpPr>
        <p:spPr>
          <a:xfrm>
            <a:off x="8765871" y="658882"/>
            <a:ext cx="165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4C493125-E6C8-62EE-846A-9017AB6958A5}"/>
              </a:ext>
            </a:extLst>
          </p:cNvPr>
          <p:cNvSpPr/>
          <p:nvPr/>
        </p:nvSpPr>
        <p:spPr>
          <a:xfrm>
            <a:off x="2150856" y="3794703"/>
            <a:ext cx="165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94389588-0687-5C4E-25AF-FC8C6607B8F0}"/>
              </a:ext>
            </a:extLst>
          </p:cNvPr>
          <p:cNvSpPr/>
          <p:nvPr/>
        </p:nvSpPr>
        <p:spPr>
          <a:xfrm>
            <a:off x="8552187" y="3764256"/>
            <a:ext cx="16525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</a:t>
            </a: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4BE61AF2-D124-1B6D-D6BF-BC81FEDFA1AB}"/>
              </a:ext>
            </a:extLst>
          </p:cNvPr>
          <p:cNvCxnSpPr>
            <a:stCxn id="79" idx="3"/>
            <a:endCxn id="62" idx="1"/>
          </p:cNvCxnSpPr>
          <p:nvPr/>
        </p:nvCxnSpPr>
        <p:spPr>
          <a:xfrm flipV="1">
            <a:off x="4901895" y="2596021"/>
            <a:ext cx="1700203" cy="6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矩形 166">
            <a:extLst>
              <a:ext uri="{FF2B5EF4-FFF2-40B4-BE49-F238E27FC236}">
                <a16:creationId xmlns:a16="http://schemas.microsoft.com/office/drawing/2014/main" id="{DF7ED1CD-F392-29CC-1E2E-4D2E6EC5D00C}"/>
              </a:ext>
            </a:extLst>
          </p:cNvPr>
          <p:cNvSpPr/>
          <p:nvPr/>
        </p:nvSpPr>
        <p:spPr>
          <a:xfrm>
            <a:off x="5538391" y="2675287"/>
            <a:ext cx="11712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流转</a:t>
            </a:r>
          </a:p>
        </p:txBody>
      </p:sp>
      <p:cxnSp>
        <p:nvCxnSpPr>
          <p:cNvPr id="71" name="直接箭头连接符 70">
            <a:extLst>
              <a:ext uri="{FF2B5EF4-FFF2-40B4-BE49-F238E27FC236}">
                <a16:creationId xmlns:a16="http://schemas.microsoft.com/office/drawing/2014/main" id="{685DF80B-BAF3-9C86-E456-1FA1DA26080D}"/>
              </a:ext>
            </a:extLst>
          </p:cNvPr>
          <p:cNvCxnSpPr>
            <a:stCxn id="153" idx="3"/>
            <a:endCxn id="146" idx="1"/>
          </p:cNvCxnSpPr>
          <p:nvPr/>
        </p:nvCxnSpPr>
        <p:spPr>
          <a:xfrm flipV="1">
            <a:off x="4901894" y="5724006"/>
            <a:ext cx="1700203" cy="6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11CBE634-5A47-7968-B30C-5BACD64E69C7}"/>
              </a:ext>
            </a:extLst>
          </p:cNvPr>
          <p:cNvSpPr/>
          <p:nvPr/>
        </p:nvSpPr>
        <p:spPr>
          <a:xfrm>
            <a:off x="5368946" y="5794571"/>
            <a:ext cx="117122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流转</a:t>
            </a:r>
          </a:p>
        </p:txBody>
      </p:sp>
    </p:spTree>
    <p:extLst>
      <p:ext uri="{BB962C8B-B14F-4D97-AF65-F5344CB8AC3E}">
        <p14:creationId xmlns:p14="http://schemas.microsoft.com/office/powerpoint/2010/main" val="17945787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22A0-702C-C7A4-6DDC-4F9658681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4B1BF516-2796-5B2B-62F8-ED2008CF8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01832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企业增强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A83BDFEB-2819-4F56-196A-96158571C813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14</a:t>
            </a:fld>
            <a:endParaRPr kumimoji="1" lang="zh-CN" altLang="en-US" sz="2400" dirty="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DFE815C7-210D-2E96-BBA0-756FCFADAFAC}"/>
              </a:ext>
            </a:extLst>
          </p:cNvPr>
          <p:cNvSpPr/>
          <p:nvPr/>
        </p:nvSpPr>
        <p:spPr>
          <a:xfrm>
            <a:off x="3244405" y="2759937"/>
            <a:ext cx="42327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增强公司级别的自动化知识图谱。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增强全局需求的子系统边界定位和建议。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AutoNum type="arabicPeriod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增强全局多子系统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协助分布式编码的能力。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68882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DBAEE-B49A-EAC4-1C3E-E971331E1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45C986D9-624C-1A74-A964-523C3298D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1073" y="2720417"/>
            <a:ext cx="7004653" cy="91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二，硅基人的产品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      --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万物皆可预测的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产品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44E7070A-5B02-7469-B641-A8571BD4590E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15</a:t>
            </a:fld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876984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3AE73-19C5-4811-023C-4DD838287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3" name="矩形 15382">
            <a:extLst>
              <a:ext uri="{FF2B5EF4-FFF2-40B4-BE49-F238E27FC236}">
                <a16:creationId xmlns:a16="http://schemas.microsoft.com/office/drawing/2014/main" id="{2C2A5D5B-9B24-B93C-B5B1-968FB56DA204}"/>
              </a:ext>
            </a:extLst>
          </p:cNvPr>
          <p:cNvSpPr/>
          <p:nvPr/>
        </p:nvSpPr>
        <p:spPr>
          <a:xfrm>
            <a:off x="3170199" y="2506858"/>
            <a:ext cx="826839" cy="1070142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VIP</a:t>
            </a: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3F623BF-E0F2-C11B-DFBD-B6950A9200B0}"/>
              </a:ext>
            </a:extLst>
          </p:cNvPr>
          <p:cNvSpPr/>
          <p:nvPr/>
        </p:nvSpPr>
        <p:spPr>
          <a:xfrm>
            <a:off x="4011789" y="1310053"/>
            <a:ext cx="4029789" cy="16666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62" name="TextBox 35">
            <a:extLst>
              <a:ext uri="{FF2B5EF4-FFF2-40B4-BE49-F238E27FC236}">
                <a16:creationId xmlns:a16="http://schemas.microsoft.com/office/drawing/2014/main" id="{40ECDB7F-5236-E2F3-872A-DCAFABA99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1296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</a:rPr>
              <a:t>产品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架构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9EE2171F-9E8C-4D4E-45A8-8D939F8C9194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16</a:t>
            </a:fld>
            <a:endParaRPr kumimoji="1" lang="zh-CN" altLang="en-US" sz="2400" dirty="0"/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C43999CF-EC7A-B86F-155F-4C4740CA1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5718" y="5547947"/>
            <a:ext cx="5722296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基于联网大模型的核心风险算法架构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1990C7-9159-88B4-FFA9-CB6ADF413791}"/>
              </a:ext>
            </a:extLst>
          </p:cNvPr>
          <p:cNvSpPr/>
          <p:nvPr/>
        </p:nvSpPr>
        <p:spPr>
          <a:xfrm>
            <a:off x="895166" y="273078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C421C6-E191-420A-2032-56980FEA7F95}"/>
              </a:ext>
            </a:extLst>
          </p:cNvPr>
          <p:cNvSpPr/>
          <p:nvPr/>
        </p:nvSpPr>
        <p:spPr>
          <a:xfrm>
            <a:off x="6395801" y="2240452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提示词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842A8C7-F191-2F9E-B4F6-072967AA701E}"/>
              </a:ext>
            </a:extLst>
          </p:cNvPr>
          <p:cNvCxnSpPr>
            <a:cxnSpLocks/>
            <a:stCxn id="5" idx="3"/>
            <a:endCxn id="50" idx="1"/>
          </p:cNvCxnSpPr>
          <p:nvPr/>
        </p:nvCxnSpPr>
        <p:spPr>
          <a:xfrm flipV="1">
            <a:off x="2063185" y="2143364"/>
            <a:ext cx="1948604" cy="90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5AA3AAB-FEAA-483E-8C39-55EAFDC34F1B}"/>
              </a:ext>
            </a:extLst>
          </p:cNvPr>
          <p:cNvSpPr/>
          <p:nvPr/>
        </p:nvSpPr>
        <p:spPr>
          <a:xfrm>
            <a:off x="6386866" y="536643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管理台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297ACFE-BE84-E4CF-76E5-A1CC1C9AA8AD}"/>
              </a:ext>
            </a:extLst>
          </p:cNvPr>
          <p:cNvSpPr/>
          <p:nvPr/>
        </p:nvSpPr>
        <p:spPr>
          <a:xfrm>
            <a:off x="8671490" y="2656408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搜索中心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联网大模型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35">
            <a:extLst>
              <a:ext uri="{FF2B5EF4-FFF2-40B4-BE49-F238E27FC236}">
                <a16:creationId xmlns:a16="http://schemas.microsoft.com/office/drawing/2014/main" id="{7E6D5001-CBBB-D437-2BE3-8D378B3D5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3643" y="2422878"/>
            <a:ext cx="66060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标准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233404-00BC-8360-5FFE-003FA09CD17A}"/>
              </a:ext>
            </a:extLst>
          </p:cNvPr>
          <p:cNvSpPr/>
          <p:nvPr/>
        </p:nvSpPr>
        <p:spPr>
          <a:xfrm>
            <a:off x="4204026" y="1480806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776BE9-7430-C2D0-D3D4-9B80DE481462}"/>
              </a:ext>
            </a:extLst>
          </p:cNvPr>
          <p:cNvSpPr/>
          <p:nvPr/>
        </p:nvSpPr>
        <p:spPr>
          <a:xfrm>
            <a:off x="4204025" y="2240452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</a:p>
        </p:txBody>
      </p:sp>
      <p:sp>
        <p:nvSpPr>
          <p:cNvPr id="16" name="圆柱体 15">
            <a:extLst>
              <a:ext uri="{FF2B5EF4-FFF2-40B4-BE49-F238E27FC236}">
                <a16:creationId xmlns:a16="http://schemas.microsoft.com/office/drawing/2014/main" id="{1D709B84-A16B-4121-B8CB-82149D1F6915}"/>
              </a:ext>
            </a:extLst>
          </p:cNvPr>
          <p:cNvSpPr/>
          <p:nvPr/>
        </p:nvSpPr>
        <p:spPr>
          <a:xfrm>
            <a:off x="5527411" y="1660014"/>
            <a:ext cx="676144" cy="96670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DB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7B2108-940B-33E3-B42C-772FAEAEC514}"/>
              </a:ext>
            </a:extLst>
          </p:cNvPr>
          <p:cNvSpPr/>
          <p:nvPr/>
        </p:nvSpPr>
        <p:spPr>
          <a:xfrm>
            <a:off x="6386867" y="1465833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大模型配置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输出要求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BABB7C9-94F3-D33B-6E4A-05D187E741F0}"/>
              </a:ext>
            </a:extLst>
          </p:cNvPr>
          <p:cNvCxnSpPr>
            <a:cxnSpLocks/>
            <a:stCxn id="11" idx="2"/>
            <a:endCxn id="17" idx="0"/>
          </p:cNvCxnSpPr>
          <p:nvPr/>
        </p:nvCxnSpPr>
        <p:spPr>
          <a:xfrm>
            <a:off x="6970876" y="1166547"/>
            <a:ext cx="1" cy="299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6ED1359-2AD9-1FBF-99DE-F57B3CC9BDC7}"/>
              </a:ext>
            </a:extLst>
          </p:cNvPr>
          <p:cNvCxnSpPr>
            <a:cxnSpLocks/>
            <a:stCxn id="50" idx="3"/>
            <a:endCxn id="45" idx="1"/>
          </p:cNvCxnSpPr>
          <p:nvPr/>
        </p:nvCxnSpPr>
        <p:spPr>
          <a:xfrm>
            <a:off x="8041578" y="2143364"/>
            <a:ext cx="629912" cy="827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>
            <a:extLst>
              <a:ext uri="{FF2B5EF4-FFF2-40B4-BE49-F238E27FC236}">
                <a16:creationId xmlns:a16="http://schemas.microsoft.com/office/drawing/2014/main" id="{3C6920EE-3B92-AF77-7EC4-6A48C9CC2394}"/>
              </a:ext>
            </a:extLst>
          </p:cNvPr>
          <p:cNvSpPr/>
          <p:nvPr/>
        </p:nvSpPr>
        <p:spPr>
          <a:xfrm>
            <a:off x="4011789" y="3176131"/>
            <a:ext cx="4029789" cy="16666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FEF4400-379A-888C-A03F-C5E5801F0D40}"/>
              </a:ext>
            </a:extLst>
          </p:cNvPr>
          <p:cNvSpPr/>
          <p:nvPr/>
        </p:nvSpPr>
        <p:spPr>
          <a:xfrm>
            <a:off x="6395801" y="410653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3E82965-844B-C192-8FF1-52E9998941D7}"/>
              </a:ext>
            </a:extLst>
          </p:cNvPr>
          <p:cNvSpPr/>
          <p:nvPr/>
        </p:nvSpPr>
        <p:spPr>
          <a:xfrm>
            <a:off x="4204026" y="3346884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9665A1A-A70C-AAAD-B2CD-ED038ED80C69}"/>
              </a:ext>
            </a:extLst>
          </p:cNvPr>
          <p:cNvSpPr/>
          <p:nvPr/>
        </p:nvSpPr>
        <p:spPr>
          <a:xfrm>
            <a:off x="4204025" y="410653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TASK</a:t>
            </a:r>
          </a:p>
        </p:txBody>
      </p:sp>
      <p:sp>
        <p:nvSpPr>
          <p:cNvPr id="54" name="圆柱体 53">
            <a:extLst>
              <a:ext uri="{FF2B5EF4-FFF2-40B4-BE49-F238E27FC236}">
                <a16:creationId xmlns:a16="http://schemas.microsoft.com/office/drawing/2014/main" id="{D44CC261-7C86-39D5-25CA-DC69485E68AA}"/>
              </a:ext>
            </a:extLst>
          </p:cNvPr>
          <p:cNvSpPr/>
          <p:nvPr/>
        </p:nvSpPr>
        <p:spPr>
          <a:xfrm>
            <a:off x="5527411" y="3526092"/>
            <a:ext cx="676144" cy="96670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DB</a:t>
            </a:r>
            <a:endParaRPr lang="zh-CN" altLang="en-US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3B6866D-6D11-BB99-C33E-4EA588971F38}"/>
              </a:ext>
            </a:extLst>
          </p:cNvPr>
          <p:cNvSpPr/>
          <p:nvPr/>
        </p:nvSpPr>
        <p:spPr>
          <a:xfrm>
            <a:off x="6386867" y="3331911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7D4BC2A-82FB-9496-F9E5-CBD3C4409AA9}"/>
              </a:ext>
            </a:extLst>
          </p:cNvPr>
          <p:cNvSpPr/>
          <p:nvPr/>
        </p:nvSpPr>
        <p:spPr>
          <a:xfrm>
            <a:off x="8671490" y="1310053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外部数据</a:t>
            </a:r>
            <a:b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数据接口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F6058BC5-DBEC-1ED4-1CFC-4E0093088360}"/>
              </a:ext>
            </a:extLst>
          </p:cNvPr>
          <p:cNvCxnSpPr>
            <a:cxnSpLocks/>
            <a:stCxn id="50" idx="3"/>
            <a:endCxn id="57" idx="1"/>
          </p:cNvCxnSpPr>
          <p:nvPr/>
        </p:nvCxnSpPr>
        <p:spPr>
          <a:xfrm flipV="1">
            <a:off x="8041578" y="1625005"/>
            <a:ext cx="629912" cy="518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1" name="矩形 15360">
            <a:extLst>
              <a:ext uri="{FF2B5EF4-FFF2-40B4-BE49-F238E27FC236}">
                <a16:creationId xmlns:a16="http://schemas.microsoft.com/office/drawing/2014/main" id="{09448411-9B65-37AE-1926-E00298DE15A1}"/>
              </a:ext>
            </a:extLst>
          </p:cNvPr>
          <p:cNvSpPr/>
          <p:nvPr/>
        </p:nvSpPr>
        <p:spPr>
          <a:xfrm>
            <a:off x="8671490" y="421310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大模型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363" name="直接箭头连接符 15362">
            <a:extLst>
              <a:ext uri="{FF2B5EF4-FFF2-40B4-BE49-F238E27FC236}">
                <a16:creationId xmlns:a16="http://schemas.microsoft.com/office/drawing/2014/main" id="{9DFA8EC0-8BB8-C3DE-E1C5-7CE6839052B8}"/>
              </a:ext>
            </a:extLst>
          </p:cNvPr>
          <p:cNvCxnSpPr>
            <a:cxnSpLocks/>
            <a:stCxn id="43" idx="3"/>
            <a:endCxn id="45" idx="1"/>
          </p:cNvCxnSpPr>
          <p:nvPr/>
        </p:nvCxnSpPr>
        <p:spPr>
          <a:xfrm flipV="1">
            <a:off x="8041578" y="2971360"/>
            <a:ext cx="629912" cy="10380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68" name="直接箭头连接符 15367">
            <a:extLst>
              <a:ext uri="{FF2B5EF4-FFF2-40B4-BE49-F238E27FC236}">
                <a16:creationId xmlns:a16="http://schemas.microsoft.com/office/drawing/2014/main" id="{C8DC34E3-0680-E1E8-BD35-2EB485F8D133}"/>
              </a:ext>
            </a:extLst>
          </p:cNvPr>
          <p:cNvCxnSpPr>
            <a:cxnSpLocks/>
            <a:stCxn id="5" idx="3"/>
            <a:endCxn id="43" idx="1"/>
          </p:cNvCxnSpPr>
          <p:nvPr/>
        </p:nvCxnSpPr>
        <p:spPr>
          <a:xfrm>
            <a:off x="2063185" y="3045732"/>
            <a:ext cx="1948604" cy="963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1" name="TextBox 35">
            <a:extLst>
              <a:ext uri="{FF2B5EF4-FFF2-40B4-BE49-F238E27FC236}">
                <a16:creationId xmlns:a16="http://schemas.microsoft.com/office/drawing/2014/main" id="{E94500C1-FE30-590E-42E0-FFDCC542A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500" y="3407447"/>
            <a:ext cx="82457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个性化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cxnSp>
        <p:nvCxnSpPr>
          <p:cNvPr id="15373" name="直接箭头连接符 15372">
            <a:extLst>
              <a:ext uri="{FF2B5EF4-FFF2-40B4-BE49-F238E27FC236}">
                <a16:creationId xmlns:a16="http://schemas.microsoft.com/office/drawing/2014/main" id="{775ADA7F-DCC2-AB4C-D56E-E97E30258CB0}"/>
              </a:ext>
            </a:extLst>
          </p:cNvPr>
          <p:cNvCxnSpPr>
            <a:cxnSpLocks/>
            <a:stCxn id="43" idx="3"/>
            <a:endCxn id="15361" idx="1"/>
          </p:cNvCxnSpPr>
          <p:nvPr/>
        </p:nvCxnSpPr>
        <p:spPr>
          <a:xfrm>
            <a:off x="8041578" y="4009442"/>
            <a:ext cx="629912" cy="518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BBA14A6D-CCAA-574B-50B0-87F3C39AE24A}"/>
              </a:ext>
            </a:extLst>
          </p:cNvPr>
          <p:cNvSpPr/>
          <p:nvPr/>
        </p:nvSpPr>
        <p:spPr>
          <a:xfrm>
            <a:off x="3170199" y="4013245"/>
            <a:ext cx="826839" cy="829508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5684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302E6-FA54-71C7-D92D-41A0FF96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B07904E9-66E0-6E7F-731A-E81B5630F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1296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</a:rPr>
              <a:t>业务原生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3945146C-8658-A4C6-7DCF-6B8939BCC8F2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17</a:t>
            </a:fld>
            <a:endParaRPr kumimoji="1" lang="zh-CN" altLang="en-US" sz="2400" dirty="0"/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E53416C9-1750-5F50-6E10-678405817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6333" y="5763488"/>
            <a:ext cx="5090596" cy="50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基于业务原生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架构的视角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8EB585-FDF7-1B0D-E48D-E8652E2ADE7D}"/>
              </a:ext>
            </a:extLst>
          </p:cNvPr>
          <p:cNvSpPr/>
          <p:nvPr/>
        </p:nvSpPr>
        <p:spPr>
          <a:xfrm>
            <a:off x="1457141" y="279745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多源数据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实时接入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749498E-EBEC-429A-ABDE-4C49EAB7E3A8}"/>
              </a:ext>
            </a:extLst>
          </p:cNvPr>
          <p:cNvSpPr/>
          <p:nvPr/>
        </p:nvSpPr>
        <p:spPr>
          <a:xfrm>
            <a:off x="5802856" y="55423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原生应用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F75C0A-7631-5CA6-77A4-A27BCACFCA04}"/>
              </a:ext>
            </a:extLst>
          </p:cNvPr>
          <p:cNvSpPr/>
          <p:nvPr/>
        </p:nvSpPr>
        <p:spPr>
          <a:xfrm>
            <a:off x="2522626" y="162418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数据智能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AD3DACCC-9718-ED21-2BA4-FDD860EEF5E8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>
            <a:off x="6386866" y="1184134"/>
            <a:ext cx="4440" cy="440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9CCF6135-C96E-175D-A62A-F5923CBA3B2C}"/>
              </a:ext>
            </a:extLst>
          </p:cNvPr>
          <p:cNvSpPr/>
          <p:nvPr/>
        </p:nvSpPr>
        <p:spPr>
          <a:xfrm>
            <a:off x="3384753" y="279745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感知处理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E9C57A-0689-1E78-D10B-9069E628449A}"/>
              </a:ext>
            </a:extLst>
          </p:cNvPr>
          <p:cNvSpPr/>
          <p:nvPr/>
        </p:nvSpPr>
        <p:spPr>
          <a:xfrm>
            <a:off x="4874215" y="279745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规则生成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3C21CB-673D-A537-2525-DFB4A543DAB6}"/>
              </a:ext>
            </a:extLst>
          </p:cNvPr>
          <p:cNvSpPr/>
          <p:nvPr/>
        </p:nvSpPr>
        <p:spPr>
          <a:xfrm>
            <a:off x="5807296" y="162418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自主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决策引擎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A0EFEF-13D3-46D4-C8B4-DBDB6C782CFF}"/>
              </a:ext>
            </a:extLst>
          </p:cNvPr>
          <p:cNvSpPr/>
          <p:nvPr/>
        </p:nvSpPr>
        <p:spPr>
          <a:xfrm>
            <a:off x="6801827" y="279745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预测与验证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4DBE25-37D2-D643-1349-4651AD4B176E}"/>
              </a:ext>
            </a:extLst>
          </p:cNvPr>
          <p:cNvSpPr/>
          <p:nvPr/>
        </p:nvSpPr>
        <p:spPr>
          <a:xfrm>
            <a:off x="8281764" y="279745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流程节点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智能调度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04068C5-9C7F-3417-0567-6B1610619C31}"/>
              </a:ext>
            </a:extLst>
          </p:cNvPr>
          <p:cNvSpPr/>
          <p:nvPr/>
        </p:nvSpPr>
        <p:spPr>
          <a:xfrm>
            <a:off x="9091966" y="162418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流程编排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0A4D35E-DF28-6414-E30E-ED408C90D023}"/>
              </a:ext>
            </a:extLst>
          </p:cNvPr>
          <p:cNvSpPr/>
          <p:nvPr/>
        </p:nvSpPr>
        <p:spPr>
          <a:xfrm>
            <a:off x="10209375" y="279745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异常场景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自动修复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1A3A37D-84F0-25EC-7B34-3B6043781E64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>
            <a:off x="6386866" y="1184134"/>
            <a:ext cx="3289110" cy="440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3304253A-B10D-1C36-FA61-F88E1C7C9E21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flipH="1">
            <a:off x="3106636" y="1184134"/>
            <a:ext cx="3280230" cy="440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0E0DC53-7835-DC55-17FE-710451718FD0}"/>
              </a:ext>
            </a:extLst>
          </p:cNvPr>
          <p:cNvCxnSpPr>
            <a:cxnSpLocks/>
            <a:stCxn id="13" idx="2"/>
            <a:endCxn id="5" idx="0"/>
          </p:cNvCxnSpPr>
          <p:nvPr/>
        </p:nvCxnSpPr>
        <p:spPr>
          <a:xfrm flipH="1">
            <a:off x="2041151" y="2254084"/>
            <a:ext cx="1065485" cy="543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5998390-C0E3-6147-99F0-3D0CAEA7F781}"/>
              </a:ext>
            </a:extLst>
          </p:cNvPr>
          <p:cNvCxnSpPr>
            <a:cxnSpLocks/>
            <a:stCxn id="13" idx="2"/>
            <a:endCxn id="3" idx="0"/>
          </p:cNvCxnSpPr>
          <p:nvPr/>
        </p:nvCxnSpPr>
        <p:spPr>
          <a:xfrm>
            <a:off x="3106636" y="2254084"/>
            <a:ext cx="862127" cy="543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C3E7CAD-4835-0285-46EA-7948753AF583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>
          <a:xfrm flipH="1">
            <a:off x="5458225" y="2254084"/>
            <a:ext cx="933081" cy="543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02B4E83D-7ED8-8BE7-25E5-2DB70E6FA8B0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6391306" y="2254084"/>
            <a:ext cx="994531" cy="543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B2DA25C1-C630-B292-82CE-D5AEA5E7B01B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 flipH="1">
            <a:off x="8865774" y="2254084"/>
            <a:ext cx="810202" cy="543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E7C1CD4-F9D2-AB50-8212-D300559A6EC5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>
          <a:xfrm>
            <a:off x="9675976" y="2254084"/>
            <a:ext cx="1117409" cy="543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0" name="矩形 15359">
            <a:extLst>
              <a:ext uri="{FF2B5EF4-FFF2-40B4-BE49-F238E27FC236}">
                <a16:creationId xmlns:a16="http://schemas.microsoft.com/office/drawing/2014/main" id="{CD4B99B0-059B-A8FD-A179-1CAF983C8F8D}"/>
              </a:ext>
            </a:extLst>
          </p:cNvPr>
          <p:cNvSpPr/>
          <p:nvPr/>
        </p:nvSpPr>
        <p:spPr>
          <a:xfrm>
            <a:off x="1457140" y="419763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cxnSp>
        <p:nvCxnSpPr>
          <p:cNvPr id="15365" name="直接连接符 15364">
            <a:extLst>
              <a:ext uri="{FF2B5EF4-FFF2-40B4-BE49-F238E27FC236}">
                <a16:creationId xmlns:a16="http://schemas.microsoft.com/office/drawing/2014/main" id="{46FB2061-AC57-9975-F657-C09F6CBCAF64}"/>
              </a:ext>
            </a:extLst>
          </p:cNvPr>
          <p:cNvCxnSpPr/>
          <p:nvPr/>
        </p:nvCxnSpPr>
        <p:spPr>
          <a:xfrm>
            <a:off x="1457140" y="3819525"/>
            <a:ext cx="98966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矩形 15365">
            <a:extLst>
              <a:ext uri="{FF2B5EF4-FFF2-40B4-BE49-F238E27FC236}">
                <a16:creationId xmlns:a16="http://schemas.microsoft.com/office/drawing/2014/main" id="{3B0713B3-8729-08CA-C8D8-791235355A18}"/>
              </a:ext>
            </a:extLst>
          </p:cNvPr>
          <p:cNvSpPr/>
          <p:nvPr/>
        </p:nvSpPr>
        <p:spPr>
          <a:xfrm>
            <a:off x="1457139" y="4843061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67" name="矩形 15366">
            <a:extLst>
              <a:ext uri="{FF2B5EF4-FFF2-40B4-BE49-F238E27FC236}">
                <a16:creationId xmlns:a16="http://schemas.microsoft.com/office/drawing/2014/main" id="{30C7E04F-3937-D077-A5F7-96E53DA8477C}"/>
              </a:ext>
            </a:extLst>
          </p:cNvPr>
          <p:cNvSpPr/>
          <p:nvPr/>
        </p:nvSpPr>
        <p:spPr>
          <a:xfrm>
            <a:off x="3238315" y="4210924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15369" name="矩形 15368">
            <a:extLst>
              <a:ext uri="{FF2B5EF4-FFF2-40B4-BE49-F238E27FC236}">
                <a16:creationId xmlns:a16="http://schemas.microsoft.com/office/drawing/2014/main" id="{ACA5D7D2-0399-C9A1-3292-505AEF0FECF4}"/>
              </a:ext>
            </a:extLst>
          </p:cNvPr>
          <p:cNvSpPr/>
          <p:nvPr/>
        </p:nvSpPr>
        <p:spPr>
          <a:xfrm>
            <a:off x="3238314" y="4856355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存量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业务知识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372" name="直接箭头连接符 15371">
            <a:extLst>
              <a:ext uri="{FF2B5EF4-FFF2-40B4-BE49-F238E27FC236}">
                <a16:creationId xmlns:a16="http://schemas.microsoft.com/office/drawing/2014/main" id="{4C657148-B118-77F2-C384-C5AA9A8BFE4D}"/>
              </a:ext>
            </a:extLst>
          </p:cNvPr>
          <p:cNvCxnSpPr>
            <a:stCxn id="15360" idx="0"/>
          </p:cNvCxnSpPr>
          <p:nvPr/>
        </p:nvCxnSpPr>
        <p:spPr>
          <a:xfrm flipH="1" flipV="1">
            <a:off x="2041148" y="3819525"/>
            <a:ext cx="2" cy="37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74" name="直接箭头连接符 15373">
            <a:extLst>
              <a:ext uri="{FF2B5EF4-FFF2-40B4-BE49-F238E27FC236}">
                <a16:creationId xmlns:a16="http://schemas.microsoft.com/office/drawing/2014/main" id="{39309BDB-4FFE-D9C2-7C94-DB532C807D83}"/>
              </a:ext>
            </a:extLst>
          </p:cNvPr>
          <p:cNvCxnSpPr/>
          <p:nvPr/>
        </p:nvCxnSpPr>
        <p:spPr>
          <a:xfrm flipH="1" flipV="1">
            <a:off x="3822323" y="3827868"/>
            <a:ext cx="2" cy="37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5" name="矩形 15374">
            <a:extLst>
              <a:ext uri="{FF2B5EF4-FFF2-40B4-BE49-F238E27FC236}">
                <a16:creationId xmlns:a16="http://schemas.microsoft.com/office/drawing/2014/main" id="{986BE01C-ACA4-7943-6453-F7E6B79FB6C9}"/>
              </a:ext>
            </a:extLst>
          </p:cNvPr>
          <p:cNvSpPr/>
          <p:nvPr/>
        </p:nvSpPr>
        <p:spPr>
          <a:xfrm>
            <a:off x="8349203" y="4226451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知识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15376" name="矩形 15375">
            <a:extLst>
              <a:ext uri="{FF2B5EF4-FFF2-40B4-BE49-F238E27FC236}">
                <a16:creationId xmlns:a16="http://schemas.microsoft.com/office/drawing/2014/main" id="{A96491CE-7412-0E3E-AEB1-C5F0322ACF25}"/>
              </a:ext>
            </a:extLst>
          </p:cNvPr>
          <p:cNvSpPr/>
          <p:nvPr/>
        </p:nvSpPr>
        <p:spPr>
          <a:xfrm>
            <a:off x="8349202" y="4871882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</a:p>
        </p:txBody>
      </p:sp>
      <p:cxnSp>
        <p:nvCxnSpPr>
          <p:cNvPr id="15377" name="直接箭头连接符 15376">
            <a:extLst>
              <a:ext uri="{FF2B5EF4-FFF2-40B4-BE49-F238E27FC236}">
                <a16:creationId xmlns:a16="http://schemas.microsoft.com/office/drawing/2014/main" id="{D68AB787-6AF8-AAC6-A29A-422801CCB7F2}"/>
              </a:ext>
            </a:extLst>
          </p:cNvPr>
          <p:cNvCxnSpPr/>
          <p:nvPr/>
        </p:nvCxnSpPr>
        <p:spPr>
          <a:xfrm flipH="1" flipV="1">
            <a:off x="8933211" y="3843395"/>
            <a:ext cx="2" cy="37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8" name="矩形 15377">
            <a:extLst>
              <a:ext uri="{FF2B5EF4-FFF2-40B4-BE49-F238E27FC236}">
                <a16:creationId xmlns:a16="http://schemas.microsoft.com/office/drawing/2014/main" id="{0CA87ED3-E30F-F2E5-063C-CDB612F69066}"/>
              </a:ext>
            </a:extLst>
          </p:cNvPr>
          <p:cNvSpPr/>
          <p:nvPr/>
        </p:nvSpPr>
        <p:spPr>
          <a:xfrm>
            <a:off x="9675975" y="4221500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</a:t>
            </a:r>
          </a:p>
        </p:txBody>
      </p:sp>
      <p:sp>
        <p:nvSpPr>
          <p:cNvPr id="15379" name="矩形 15378">
            <a:extLst>
              <a:ext uri="{FF2B5EF4-FFF2-40B4-BE49-F238E27FC236}">
                <a16:creationId xmlns:a16="http://schemas.microsoft.com/office/drawing/2014/main" id="{C5EECA5E-123A-5FA2-8CCB-FB59984F9E86}"/>
              </a:ext>
            </a:extLst>
          </p:cNvPr>
          <p:cNvSpPr/>
          <p:nvPr/>
        </p:nvSpPr>
        <p:spPr>
          <a:xfrm>
            <a:off x="9675974" y="4866931"/>
            <a:ext cx="1168019" cy="629904"/>
          </a:xfrm>
          <a:prstGeom prst="rect">
            <a:avLst/>
          </a:prstGeom>
          <a:solidFill>
            <a:srgbClr val="1F497D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存量接口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5380" name="直接箭头连接符 15379">
            <a:extLst>
              <a:ext uri="{FF2B5EF4-FFF2-40B4-BE49-F238E27FC236}">
                <a16:creationId xmlns:a16="http://schemas.microsoft.com/office/drawing/2014/main" id="{D338E2B5-D0AB-ACD8-0619-A121D23192D6}"/>
              </a:ext>
            </a:extLst>
          </p:cNvPr>
          <p:cNvCxnSpPr/>
          <p:nvPr/>
        </p:nvCxnSpPr>
        <p:spPr>
          <a:xfrm flipH="1" flipV="1">
            <a:off x="10259983" y="3838444"/>
            <a:ext cx="2" cy="378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849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535CA-402F-0A96-5E44-27D458779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DFE7C316-CA3D-5B8A-90B3-25BCE9021217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18</a:t>
            </a:fld>
            <a:endParaRPr kumimoji="1" lang="zh-CN" altLang="en-US" sz="2400" dirty="0"/>
          </a:p>
        </p:txBody>
      </p:sp>
      <p:sp>
        <p:nvSpPr>
          <p:cNvPr id="2" name="TextBox 35">
            <a:extLst>
              <a:ext uri="{FF2B5EF4-FFF2-40B4-BE49-F238E27FC236}">
                <a16:creationId xmlns:a16="http://schemas.microsoft.com/office/drawing/2014/main" id="{9D085F4B-B184-11F4-418F-452F387B9A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198" y="2926234"/>
            <a:ext cx="3378802" cy="913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附录：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你想的也可以增加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0312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2F72-BA6D-6E16-C655-A5A407D62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35">
            <a:extLst>
              <a:ext uri="{FF2B5EF4-FFF2-40B4-BE49-F238E27FC236}">
                <a16:creationId xmlns:a16="http://schemas.microsoft.com/office/drawing/2014/main" id="{7C95E23F-0D14-B030-13C7-21A9BF351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1" y="186267"/>
            <a:ext cx="112966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硅基人</a:t>
            </a:r>
            <a:r>
              <a:rPr lang="en-US" altLang="zh-CN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—</a:t>
            </a:r>
            <a:r>
              <a:rPr lang="zh-CN" altLang="en-US" sz="2400" b="1" dirty="0">
                <a:solidFill>
                  <a:srgbClr val="1E53A4"/>
                </a:solidFill>
                <a:latin typeface="微软雅黑" panose="020B0503020204020204" charset="-122"/>
                <a:ea typeface="微软雅黑" panose="020B0503020204020204" charset="-122"/>
                <a:sym typeface="楷体" panose="02010609060101010101" pitchFamily="49" charset="-122"/>
              </a:rPr>
              <a:t>理念</a:t>
            </a:r>
            <a:endParaRPr lang="en-US" altLang="zh-CN" sz="2400" b="1" dirty="0">
              <a:solidFill>
                <a:srgbClr val="1E53A4"/>
              </a:solidFill>
              <a:latin typeface="微软雅黑" panose="020B0503020204020204" charset="-122"/>
              <a:ea typeface="微软雅黑" panose="020B0503020204020204" charset="-122"/>
              <a:sym typeface="楷体" panose="02010609060101010101" pitchFamily="49" charset="-122"/>
            </a:endParaRPr>
          </a:p>
        </p:txBody>
      </p:sp>
      <p:sp>
        <p:nvSpPr>
          <p:cNvPr id="36" name="灯片编号占位符 2">
            <a:extLst>
              <a:ext uri="{FF2B5EF4-FFF2-40B4-BE49-F238E27FC236}">
                <a16:creationId xmlns:a16="http://schemas.microsoft.com/office/drawing/2014/main" id="{0D9CF256-B9D3-AAD5-698E-B08749997CB3}"/>
              </a:ext>
            </a:extLst>
          </p:cNvPr>
          <p:cNvSpPr txBox="1">
            <a:spLocks/>
          </p:cNvSpPr>
          <p:nvPr/>
        </p:nvSpPr>
        <p:spPr>
          <a:xfrm>
            <a:off x="11988800" y="8533041"/>
            <a:ext cx="3657600" cy="21279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  <a:cs typeface="+mn-cs"/>
              </a:defRPr>
            </a:lvl9pPr>
          </a:lstStyle>
          <a:p>
            <a:fld id="{884269F9-B5CE-EB46-8536-1F9E4423A6BA}" type="slidenum">
              <a:rPr kumimoji="1" lang="zh-CN" altLang="en-US" sz="2400"/>
              <a:pPr/>
              <a:t>19</a:t>
            </a:fld>
            <a:endParaRPr kumimoji="1" lang="zh-CN" altLang="en-US" sz="2400" dirty="0"/>
          </a:p>
        </p:txBody>
      </p:sp>
      <p:sp>
        <p:nvSpPr>
          <p:cNvPr id="6" name="TextBox 35">
            <a:extLst>
              <a:ext uri="{FF2B5EF4-FFF2-40B4-BE49-F238E27FC236}">
                <a16:creationId xmlns:a16="http://schemas.microsoft.com/office/drawing/2014/main" id="{E022AB89-65C2-8B4C-CD43-1D0B11EB4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9782" y="1667738"/>
            <a:ext cx="9271568" cy="2554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䑏䈷㑃㠵㍆㌶㜱㐴㜰" pitchFamily="34" charset="0"/>
                <a:ea typeface="䑏S PGothic" pitchFamily="34" charset="-128"/>
              </a:defRPr>
            </a:lvl9pPr>
          </a:lstStyle>
          <a:p>
            <a:pPr marL="514350" indent="-514350">
              <a:buAutoNum type="arabicPeriod"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如果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原生是代码，那代码就是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原生。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pPr marL="514350" indent="-514350">
              <a:buAutoNum type="arabicPeriod"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如果存量代码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都能读懂，人应该作为系统门禁的最后一道防线。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pPr marL="514350" indent="-514350">
              <a:buAutoNum type="arabicPeriod"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如果</a:t>
            </a:r>
            <a:r>
              <a:rPr lang="en-US" altLang="zh-CN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AI</a:t>
            </a: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原生是大模型，那么就不应该有代码，母语即代码。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pPr marL="514350" indent="-514350">
              <a:buAutoNum type="arabicPeriod"/>
            </a:pPr>
            <a:r>
              <a:rPr lang="zh-CN" altLang="en-US" sz="2667" b="1" dirty="0">
                <a:latin typeface="微软雅黑" panose="020B0503020204020204" pitchFamily="34" charset="-122"/>
                <a:ea typeface="微软雅黑" panose="020B0503020204020204" pitchFamily="34" charset="-122"/>
                <a:sym typeface="楷体" panose="02010609060101010101" pitchFamily="49" charset="-122"/>
              </a:rPr>
              <a:t>未来应该由代码原生走向大模型原生。</a:t>
            </a: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  <a:p>
            <a:pPr marL="514350" indent="-514350">
              <a:buAutoNum type="arabicPeriod"/>
            </a:pPr>
            <a:endParaRPr lang="en-US" altLang="zh-CN" sz="2667" b="1" dirty="0">
              <a:latin typeface="微软雅黑" panose="020B0503020204020204" pitchFamily="34" charset="-122"/>
              <a:ea typeface="微软雅黑" panose="020B0503020204020204" pitchFamily="34" charset="-122"/>
              <a:sym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0958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6761</TotalTime>
  <Words>1282</Words>
  <Application>Microsoft Office PowerPoint</Application>
  <PresentationFormat>宽屏</PresentationFormat>
  <Paragraphs>264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rexouyang(欧阳江平)</dc:creator>
  <cp:lastModifiedBy>欧阳江平</cp:lastModifiedBy>
  <cp:revision>681</cp:revision>
  <dcterms:created xsi:type="dcterms:W3CDTF">2025-10-20T11:22:40Z</dcterms:created>
  <dcterms:modified xsi:type="dcterms:W3CDTF">2026-01-22T08:33:53Z</dcterms:modified>
</cp:coreProperties>
</file>